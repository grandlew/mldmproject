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86" r:id="rId5"/>
    <p:sldId id="287" r:id="rId6"/>
    <p:sldId id="288" r:id="rId7"/>
    <p:sldId id="289" r:id="rId8"/>
    <p:sldId id="290" r:id="rId9"/>
    <p:sldId id="300" r:id="rId10"/>
    <p:sldId id="301" r:id="rId11"/>
    <p:sldId id="302" r:id="rId12"/>
    <p:sldId id="303" r:id="rId13"/>
    <p:sldId id="309" r:id="rId14"/>
    <p:sldId id="308" r:id="rId15"/>
    <p:sldId id="305" r:id="rId16"/>
    <p:sldId id="306" r:id="rId17"/>
    <p:sldId id="307" r:id="rId18"/>
    <p:sldId id="285" r:id="rId19"/>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51"/>
    <p:restoredTop sz="94694"/>
  </p:normalViewPr>
  <p:slideViewPr>
    <p:cSldViewPr snapToGrid="0" snapToObjects="1">
      <p:cViewPr varScale="1">
        <p:scale>
          <a:sx n="68" d="100"/>
          <a:sy n="68" d="100"/>
        </p:scale>
        <p:origin x="912" y="66"/>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55" d="100"/>
          <a:sy n="55" d="100"/>
        </p:scale>
        <p:origin x="286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rgbClr val="102D69"/>
                </a:solidFill>
                <a:latin typeface="HSE Sans" panose="02000000000000000000" pitchFamily="2" charset="0"/>
                <a:ea typeface="+mn-ea"/>
                <a:cs typeface="+mn-cs"/>
              </a:defRPr>
            </a:pPr>
            <a:r>
              <a:rPr lang="en-US" sz="1600" b="0" i="0" baseline="0" dirty="0">
                <a:effectLst/>
              </a:rPr>
              <a:t>Name of chart can be placed here</a:t>
            </a:r>
          </a:p>
        </c:rich>
      </c:tx>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baseline="0">
              <a:solidFill>
                <a:srgbClr val="102D69"/>
              </a:solidFill>
              <a:latin typeface="HSE Sans" panose="02000000000000000000" pitchFamily="2" charset="0"/>
              <a:ea typeface="+mn-ea"/>
              <a:cs typeface="+mn-cs"/>
            </a:defRPr>
          </a:pPr>
          <a:endParaRPr lang="en-US"/>
        </a:p>
      </c:txPr>
    </c:title>
    <c:autoTitleDeleted val="0"/>
    <c:plotArea>
      <c:layout/>
      <c:pieChart>
        <c:varyColors val="1"/>
        <c:dLbls>
          <c:dLblPos val="inEnd"/>
          <c:showLegendKey val="0"/>
          <c:showVal val="0"/>
          <c:showCatName val="0"/>
          <c:showSerName val="0"/>
          <c:showPercent val="1"/>
          <c:showBubbleSize val="0"/>
          <c:showLeaderLines val="0"/>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rgbClr val="102D69"/>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9.jpg"/></Relationships>
</file>

<file path=ppt/drawings/drawing1.xml><?xml version="1.0" encoding="utf-8"?>
<c:userShapes xmlns:c="http://schemas.openxmlformats.org/drawingml/2006/chart">
  <cdr:relSizeAnchor xmlns:cdr="http://schemas.openxmlformats.org/drawingml/2006/chartDrawing">
    <cdr:from>
      <cdr:x>0.14771</cdr:x>
      <cdr:y>0.11807</cdr:y>
    </cdr:from>
    <cdr:to>
      <cdr:x>0.90221</cdr:x>
      <cdr:y>0.62969</cdr:y>
    </cdr:to>
    <cdr:pic>
      <cdr:nvPicPr>
        <cdr:cNvPr id="2" name="Picture 1"/>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56603" y="562708"/>
          <a:ext cx="4886325" cy="2438400"/>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4C6311-0373-4273-866E-D9D03FD9C218}" type="datetimeFigureOut">
              <a:rPr lang="en-US" smtClean="0"/>
              <a:t>12/17/2025</a:t>
            </a:fld>
            <a:endParaRPr lang="en-US"/>
          </a:p>
        </p:txBody>
      </p:sp>
    </p:spTree>
    <p:extLst>
      <p:ext uri="{BB962C8B-B14F-4D97-AF65-F5344CB8AC3E}">
        <p14:creationId xmlns:p14="http://schemas.microsoft.com/office/powerpoint/2010/main" val="203702259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12/17/2025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a:t>
            </a:r>
            <a:r>
              <a:rPr lang="ru-RU" sz="1200" dirty="0">
                <a:latin typeface="HSE Sans" panose="02000000000000000000" pitchFamily="2" charset="0"/>
              </a:rPr>
              <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dirty="0"/>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4007716A-CF6E-BC4E-83BE-CC4A3F1F2008}"/>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4921AC85-F824-C54B-91ED-6AB495D80D7A}"/>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897B1CBC-D3E1-5F42-9E46-5C5D5982A1A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364269E6-245A-D54E-A8AD-14E29A03FAC1}"/>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9D694F-3582-1641-94D9-87F2A3453FC3}"/>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4" name="Picture 3" descr="A blue circle with white text&#10;&#10;Description automatically generated with low confidence">
            <a:extLst>
              <a:ext uri="{FF2B5EF4-FFF2-40B4-BE49-F238E27FC236}">
                <a16:creationId xmlns:a16="http://schemas.microsoft.com/office/drawing/2014/main" id="{CFAE9005-17A7-5047-B315-642E9FB4F328}"/>
              </a:ext>
            </a:extLst>
          </p:cNvPr>
          <p:cNvPicPr>
            <a:picLocks noChangeAspect="1"/>
          </p:cNvPicPr>
          <p:nvPr userDrawn="1"/>
        </p:nvPicPr>
        <p:blipFill>
          <a:blip r:embed="rId3"/>
          <a:stretch>
            <a:fill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9"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a:xfrm>
            <a:off x="1027966" y="1843964"/>
            <a:ext cx="10366865" cy="3065661"/>
          </a:xfrm>
        </p:spPr>
        <p:txBody>
          <a:bodyPr>
            <a:normAutofit/>
          </a:bodyPr>
          <a:lstStyle/>
          <a:p>
            <a:r>
              <a:rPr lang="en-US" sz="3200" dirty="0">
                <a:latin typeface="Times New Roman" panose="02020603050405020304" pitchFamily="18" charset="0"/>
                <a:cs typeface="Times New Roman" panose="02020603050405020304" pitchFamily="18" charset="0"/>
              </a:rPr>
              <a:t>Training data-efficient image transformers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&amp; distillation through attention</a:t>
            </a:r>
            <a:r>
              <a:rPr lang="en-US" sz="3200" dirty="0" smtClean="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Hugo et al</a:t>
            </a:r>
            <a:br>
              <a:rPr lang="en-US" sz="3200" dirty="0" smtClean="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ICML 2021. </a:t>
            </a:r>
            <a:r>
              <a:rPr lang="en-US" sz="3200" dirty="0" smtClean="0"/>
              <a:t/>
            </a:r>
            <a:br>
              <a:rPr lang="en-US" sz="3200" dirty="0" smtClean="0"/>
            </a:br>
            <a:r>
              <a:rPr lang="en-US" sz="3200" dirty="0"/>
              <a:t/>
            </a:r>
            <a:br>
              <a:rPr lang="en-US" sz="3200" dirty="0"/>
            </a:br>
            <a:r>
              <a:rPr lang="en-US" sz="2000" dirty="0">
                <a:latin typeface="Times New Roman" panose="02020603050405020304" pitchFamily="18" charset="0"/>
                <a:cs typeface="Times New Roman" panose="02020603050405020304" pitchFamily="18" charset="0"/>
              </a:rPr>
              <a:t>Reproducing key ideas from Training data-efficient image Transformers &amp; distillation through attention (</a:t>
            </a:r>
            <a:r>
              <a:rPr lang="en-US" sz="2000" dirty="0" err="1">
                <a:latin typeface="Times New Roman" panose="02020603050405020304" pitchFamily="18" charset="0"/>
                <a:cs typeface="Times New Roman" panose="02020603050405020304" pitchFamily="18" charset="0"/>
              </a:rPr>
              <a:t>DeiT</a:t>
            </a:r>
            <a:r>
              <a:rPr lang="en-US" sz="2000" dirty="0">
                <a:latin typeface="Times New Roman" panose="02020603050405020304" pitchFamily="18" charset="0"/>
                <a:cs typeface="Times New Roman" panose="02020603050405020304" pitchFamily="18" charset="0"/>
              </a:rPr>
              <a:t>) and deploying a tiny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 backbone for real-time scene </a:t>
            </a:r>
            <a:r>
              <a:rPr lang="en-US" sz="2000" dirty="0" smtClean="0">
                <a:latin typeface="Times New Roman" panose="02020603050405020304" pitchFamily="18" charset="0"/>
                <a:cs typeface="Times New Roman" panose="02020603050405020304" pitchFamily="18" charset="0"/>
              </a:rPr>
              <a:t>understanding.</a:t>
            </a:r>
            <a:endParaRPr lang="ru-RU" sz="2000" dirty="0">
              <a:latin typeface="Times New Roman" panose="02020603050405020304" pitchFamily="18" charset="0"/>
              <a:cs typeface="Times New Roman" panose="02020603050405020304" pitchFamily="18" charset="0"/>
            </a:endParaRPr>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p:txBody>
          <a:bodyPr/>
          <a:lstStyle/>
          <a:p>
            <a:r>
              <a:rPr lang="en-US" dirty="0" smtClean="0">
                <a:latin typeface="Times New Roman" panose="02020603050405020304" pitchFamily="18" charset="0"/>
                <a:cs typeface="Times New Roman" panose="02020603050405020304" pitchFamily="18" charset="0"/>
              </a:rPr>
              <a:t>Faculty of </a:t>
            </a:r>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omputer </a:t>
            </a:r>
            <a:r>
              <a:rPr lang="en-US" dirty="0">
                <a:latin typeface="Times New Roman" panose="02020603050405020304" pitchFamily="18" charset="0"/>
                <a:cs typeface="Times New Roman" panose="02020603050405020304" pitchFamily="18" charset="0"/>
              </a:rPr>
              <a:t>S</a:t>
            </a:r>
            <a:r>
              <a:rPr lang="en-US" dirty="0" smtClean="0">
                <a:latin typeface="Times New Roman" panose="02020603050405020304" pitchFamily="18" charset="0"/>
                <a:cs typeface="Times New Roman" panose="02020603050405020304" pitchFamily="18" charset="0"/>
              </a:rPr>
              <a:t>cience. </a:t>
            </a:r>
            <a:endParaRPr lang="ru-RU" dirty="0">
              <a:latin typeface="Times New Roman" panose="02020603050405020304" pitchFamily="18" charset="0"/>
              <a:cs typeface="Times New Roman" panose="02020603050405020304" pitchFamily="18" charset="0"/>
            </a:endParaRPr>
          </a:p>
        </p:txBody>
      </p:sp>
      <p:sp>
        <p:nvSpPr>
          <p:cNvPr id="6" name="Текст 5">
            <a:extLst>
              <a:ext uri="{FF2B5EF4-FFF2-40B4-BE49-F238E27FC236}">
                <a16:creationId xmlns:a16="http://schemas.microsoft.com/office/drawing/2014/main" id="{B32B7800-48A3-394E-A464-7BA3AE15CECB}"/>
              </a:ext>
            </a:extLst>
          </p:cNvPr>
          <p:cNvSpPr>
            <a:spLocks noGrp="1"/>
          </p:cNvSpPr>
          <p:nvPr>
            <p:ph type="body" sz="quarter" idx="13"/>
          </p:nvPr>
        </p:nvSpPr>
        <p:spPr>
          <a:xfrm>
            <a:off x="1027966" y="5151344"/>
            <a:ext cx="7625267" cy="652860"/>
          </a:xfrm>
        </p:spPr>
        <p:txBody>
          <a:bodyPr/>
          <a:lstStyle/>
          <a:p>
            <a:r>
              <a:rPr lang="en-US" dirty="0" smtClean="0">
                <a:latin typeface="Times New Roman" panose="02020603050405020304" pitchFamily="18" charset="0"/>
                <a:cs typeface="Times New Roman" panose="02020603050405020304" pitchFamily="18" charset="0"/>
              </a:rPr>
              <a:t>Presented by </a:t>
            </a:r>
            <a:r>
              <a:rPr lang="en-US" dirty="0" err="1" smtClean="0">
                <a:latin typeface="Times New Roman" panose="02020603050405020304" pitchFamily="18" charset="0"/>
                <a:cs typeface="Times New Roman" panose="02020603050405020304" pitchFamily="18" charset="0"/>
              </a:rPr>
              <a:t>Billa</a:t>
            </a:r>
            <a:r>
              <a:rPr lang="en-US" dirty="0" smtClean="0">
                <a:latin typeface="Times New Roman" panose="02020603050405020304" pitchFamily="18" charset="0"/>
                <a:cs typeface="Times New Roman" panose="02020603050405020304" pitchFamily="18" charset="0"/>
              </a:rPr>
              <a:t> Lewis </a:t>
            </a:r>
            <a:r>
              <a:rPr lang="en-US" dirty="0" err="1" smtClean="0">
                <a:latin typeface="Times New Roman" panose="02020603050405020304" pitchFamily="18" charset="0"/>
                <a:cs typeface="Times New Roman" panose="02020603050405020304" pitchFamily="18" charset="0"/>
              </a:rPr>
              <a:t>Lesigha</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210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Problem Statement</a:t>
            </a:r>
            <a:endParaRPr lang="ru-RU" dirty="0">
              <a:latin typeface="Times New Roman" panose="02020603050405020304" pitchFamily="18" charset="0"/>
              <a:cs typeface="Times New Roman" panose="02020603050405020304" pitchFamily="18" charset="0"/>
            </a:endParaRP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85897" y="2056106"/>
            <a:ext cx="5245561" cy="3393234"/>
          </a:xfrm>
        </p:spPr>
        <p:txBody>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Goal</a:t>
            </a:r>
            <a:r>
              <a:rPr lang="en-US" sz="1600" dirty="0" smtClean="0">
                <a:latin typeface="Times New Roman" panose="02020603050405020304" pitchFamily="18" charset="0"/>
                <a:cs typeface="Times New Roman" panose="02020603050405020304" pitchFamily="18" charset="0"/>
              </a:rPr>
              <a:t>: Turn every pixel in a street scene into a class (road, car, person, sky, </a:t>
            </a:r>
            <a:r>
              <a:rPr lang="en-US" sz="1600" dirty="0" err="1" smtClean="0">
                <a:latin typeface="Times New Roman" panose="02020603050405020304" pitchFamily="18" charset="0"/>
                <a:cs typeface="Times New Roman" panose="02020603050405020304" pitchFamily="18" charset="0"/>
              </a:rPr>
              <a:t>etc</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Why it matters: Perception for robots/AR/ADAS needs segmentation that’s accurate and fast.</a:t>
            </a:r>
          </a:p>
          <a:p>
            <a:pPr marL="285750" indent="-285750">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Constraint: Run on modest hardware (edge CPU/GPU) → tiny, efficient backbones.</a:t>
            </a:r>
            <a:endParaRPr lang="ru-RU" sz="1600" dirty="0">
              <a:latin typeface="Times New Roman" panose="02020603050405020304" pitchFamily="18" charset="0"/>
              <a:cs typeface="Times New Roman" panose="02020603050405020304" pitchFamily="18" charset="0"/>
            </a:endParaRP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89" y="540904"/>
            <a:ext cx="2091880" cy="415925"/>
          </a:xfrm>
        </p:spPr>
        <p:txBody>
          <a:bodyPr/>
          <a:lstStyle/>
          <a:p>
            <a:r>
              <a:rPr lang="en-US" dirty="0" smtClean="0">
                <a:latin typeface="Times New Roman" panose="02020603050405020304" pitchFamily="18" charset="0"/>
                <a:cs typeface="Times New Roman" panose="02020603050405020304" pitchFamily="18" charset="0"/>
              </a:rPr>
              <a:t>Faculty of Computer Science. </a:t>
            </a:r>
            <a:endParaRPr lang="ru-RU" dirty="0" smtClean="0">
              <a:latin typeface="Times New Roman" panose="02020603050405020304" pitchFamily="18" charset="0"/>
              <a:cs typeface="Times New Roman" panose="02020603050405020304" pitchFamily="18" charset="0"/>
            </a:endParaRPr>
          </a:p>
          <a:p>
            <a:endParaRPr lang="ru-RU"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4675" y="1419654"/>
            <a:ext cx="5438629" cy="5127674"/>
          </a:xfrm>
          <a:prstGeom prst="rect">
            <a:avLst/>
          </a:prstGeom>
        </p:spPr>
      </p:pic>
      <p:sp>
        <p:nvSpPr>
          <p:cNvPr id="18" name="TextBox 17"/>
          <p:cNvSpPr txBox="1"/>
          <p:nvPr/>
        </p:nvSpPr>
        <p:spPr>
          <a:xfrm>
            <a:off x="10508566" y="540904"/>
            <a:ext cx="984738" cy="246221"/>
          </a:xfrm>
          <a:prstGeom prst="rect">
            <a:avLst/>
          </a:prstGeom>
          <a:noFill/>
        </p:spPr>
        <p:txBody>
          <a:bodyPr wrap="square" rtlCol="0">
            <a:spAutoFit/>
          </a:bodyPr>
          <a:lstStyle/>
          <a:p>
            <a:pPr algn="l"/>
            <a:r>
              <a:rPr lang="en-US" sz="1000" dirty="0" smtClean="0">
                <a:latin typeface="HSE Sans" panose="02000000000000000000" pitchFamily="2" charset="0"/>
              </a:rPr>
              <a:t>2/15</a:t>
            </a:r>
            <a:endParaRPr lang="en-US" sz="1000" dirty="0">
              <a:latin typeface="HSE Sans" panose="02000000000000000000" pitchFamily="2" charset="0"/>
            </a:endParaRPr>
          </a:p>
        </p:txBody>
      </p:sp>
    </p:spTree>
    <p:extLst>
      <p:ext uri="{BB962C8B-B14F-4D97-AF65-F5344CB8AC3E}">
        <p14:creationId xmlns:p14="http://schemas.microsoft.com/office/powerpoint/2010/main" val="2613851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Заголовок 13">
            <a:extLst>
              <a:ext uri="{FF2B5EF4-FFF2-40B4-BE49-F238E27FC236}">
                <a16:creationId xmlns:a16="http://schemas.microsoft.com/office/drawing/2014/main" id="{C1657578-5B49-FB42-9E68-EF4E3D607FF9}"/>
              </a:ext>
            </a:extLst>
          </p:cNvPr>
          <p:cNvSpPr>
            <a:spLocks noGrp="1"/>
          </p:cNvSpPr>
          <p:nvPr>
            <p:ph type="title"/>
          </p:nvPr>
        </p:nvSpPr>
        <p:spPr/>
        <p:txBody>
          <a:bodyPr/>
          <a:lstStyle/>
          <a:p>
            <a:r>
              <a:rPr lang="en-US" smtClean="0">
                <a:latin typeface="Times New Roman" panose="02020603050405020304" pitchFamily="18" charset="0"/>
                <a:cs typeface="Times New Roman" panose="02020603050405020304" pitchFamily="18" charset="0"/>
              </a:rPr>
              <a:t>Paper I Build On (DeiT)</a:t>
            </a:r>
            <a:endParaRPr lang="ru-RU" dirty="0">
              <a:latin typeface="Times New Roman" panose="02020603050405020304" pitchFamily="18" charset="0"/>
              <a:cs typeface="Times New Roman" panose="02020603050405020304" pitchFamily="18" charset="0"/>
            </a:endParaRPr>
          </a:p>
        </p:txBody>
      </p:sp>
      <p:sp>
        <p:nvSpPr>
          <p:cNvPr id="16" name="Текст 15">
            <a:extLst>
              <a:ext uri="{FF2B5EF4-FFF2-40B4-BE49-F238E27FC236}">
                <a16:creationId xmlns:a16="http://schemas.microsoft.com/office/drawing/2014/main" id="{50D06A58-9783-744B-8ED5-A490C825F5D6}"/>
              </a:ext>
            </a:extLst>
          </p:cNvPr>
          <p:cNvSpPr>
            <a:spLocks noGrp="1"/>
          </p:cNvSpPr>
          <p:nvPr>
            <p:ph type="body" sz="quarter" idx="12"/>
          </p:nvPr>
        </p:nvSpPr>
        <p:spPr/>
        <p:txBody>
          <a:bodyPr>
            <a:noAutofit/>
          </a:bodyPr>
          <a:lstStyle/>
          <a:p>
            <a:r>
              <a:rPr lang="en-US" sz="1600" smtClean="0">
                <a:latin typeface="Times New Roman" panose="02020603050405020304" pitchFamily="18" charset="0"/>
                <a:cs typeface="Times New Roman" panose="02020603050405020304" pitchFamily="18" charset="0"/>
              </a:rPr>
              <a:t>Paper: Training data-efficient image Transformers &amp; distillation through attention (DeiT; Touvron et al., 2020).</a:t>
            </a:r>
          </a:p>
          <a:p>
            <a:r>
              <a:rPr lang="en-US" sz="1600" smtClean="0">
                <a:latin typeface="Times New Roman" panose="02020603050405020304" pitchFamily="18" charset="0"/>
                <a:cs typeface="Times New Roman" panose="02020603050405020304" pitchFamily="18" charset="0"/>
              </a:rPr>
              <a:t>Core idea: make Vision Transformers trainable efficiently via strong regularization and a distillation token so a student ViT learns from a teacher.</a:t>
            </a:r>
          </a:p>
          <a:p>
            <a:r>
              <a:rPr lang="en-US" sz="1600" smtClean="0">
                <a:latin typeface="Times New Roman" panose="02020603050405020304" pitchFamily="18" charset="0"/>
                <a:cs typeface="Times New Roman" panose="02020603050405020304" pitchFamily="18" charset="0"/>
              </a:rPr>
              <a:t>DeiT is published for classification (ImageNet), not segmentation, my work adapts the backbone to segmentation.</a:t>
            </a:r>
            <a:endParaRPr lang="en-US" sz="1600" dirty="0" smtClean="0">
              <a:latin typeface="Times New Roman" panose="02020603050405020304" pitchFamily="18" charset="0"/>
              <a:cs typeface="Times New Roman" panose="02020603050405020304" pitchFamily="18" charset="0"/>
            </a:endParaRPr>
          </a:p>
        </p:txBody>
      </p:sp>
      <p:sp>
        <p:nvSpPr>
          <p:cNvPr id="17" name="Текст 16">
            <a:extLst>
              <a:ext uri="{FF2B5EF4-FFF2-40B4-BE49-F238E27FC236}">
                <a16:creationId xmlns:a16="http://schemas.microsoft.com/office/drawing/2014/main" id="{12BD20DF-BD74-4B4E-BFCB-0201711B214C}"/>
              </a:ext>
            </a:extLst>
          </p:cNvPr>
          <p:cNvSpPr>
            <a:spLocks noGrp="1"/>
          </p:cNvSpPr>
          <p:nvPr>
            <p:ph type="body" sz="quarter" idx="13"/>
          </p:nvPr>
        </p:nvSpPr>
        <p:spPr>
          <a:xfrm>
            <a:off x="1143689" y="540904"/>
            <a:ext cx="2105948" cy="415925"/>
          </a:xfrm>
        </p:spPr>
        <p:txBody>
          <a:bodyPr/>
          <a:lstStyle/>
          <a:p>
            <a:r>
              <a:rPr lang="en-US" smtClean="0"/>
              <a:t>Faculty of Computer Science. </a:t>
            </a:r>
            <a:endParaRPr lang="ru-RU" smtClean="0"/>
          </a:p>
          <a:p>
            <a:endParaRPr lang="ru-RU" dirty="0"/>
          </a:p>
        </p:txBody>
      </p:sp>
      <p:pic>
        <p:nvPicPr>
          <p:cNvPr id="2" name="Picture 1"/>
          <p:cNvPicPr>
            <a:picLocks noChangeAspect="1"/>
          </p:cNvPicPr>
          <p:nvPr/>
        </p:nvPicPr>
        <p:blipFill>
          <a:blip r:embed="rId2"/>
          <a:stretch>
            <a:fillRect/>
          </a:stretch>
        </p:blipFill>
        <p:spPr>
          <a:xfrm>
            <a:off x="6259892" y="1659978"/>
            <a:ext cx="4698840" cy="4077269"/>
          </a:xfrm>
          <a:prstGeom prst="rect">
            <a:avLst/>
          </a:prstGeom>
        </p:spPr>
      </p:pic>
      <p:sp>
        <p:nvSpPr>
          <p:cNvPr id="10" name="TextBox 9"/>
          <p:cNvSpPr txBox="1"/>
          <p:nvPr/>
        </p:nvSpPr>
        <p:spPr>
          <a:xfrm>
            <a:off x="10452295" y="675249"/>
            <a:ext cx="998807" cy="246221"/>
          </a:xfrm>
          <a:prstGeom prst="rect">
            <a:avLst/>
          </a:prstGeom>
          <a:noFill/>
        </p:spPr>
        <p:txBody>
          <a:bodyPr wrap="square" rtlCol="0">
            <a:spAutoFit/>
          </a:bodyPr>
          <a:lstStyle/>
          <a:p>
            <a:pPr algn="l"/>
            <a:r>
              <a:rPr lang="en-US" sz="1000" dirty="0" smtClean="0">
                <a:latin typeface="HSE Sans" panose="02000000000000000000" pitchFamily="2" charset="0"/>
              </a:rPr>
              <a:t>3/15</a:t>
            </a:r>
            <a:endParaRPr lang="en-US" sz="1000" dirty="0">
              <a:latin typeface="HSE Sans" panose="02000000000000000000" pitchFamily="2" charset="0"/>
            </a:endParaRPr>
          </a:p>
        </p:txBody>
      </p:sp>
    </p:spTree>
    <p:extLst>
      <p:ext uri="{BB962C8B-B14F-4D97-AF65-F5344CB8AC3E}">
        <p14:creationId xmlns:p14="http://schemas.microsoft.com/office/powerpoint/2010/main" val="18195968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Текст 3">
            <a:extLst>
              <a:ext uri="{FF2B5EF4-FFF2-40B4-BE49-F238E27FC236}">
                <a16:creationId xmlns:a16="http://schemas.microsoft.com/office/drawing/2014/main" id="{35248FDE-0E1E-FE42-AA26-67AD51F2AF02}"/>
              </a:ext>
            </a:extLst>
          </p:cNvPr>
          <p:cNvSpPr>
            <a:spLocks noGrp="1"/>
          </p:cNvSpPr>
          <p:nvPr>
            <p:ph type="body" sz="quarter" idx="17"/>
          </p:nvPr>
        </p:nvSpPr>
        <p:spPr/>
        <p:txBody>
          <a:bodyPr/>
          <a:lstStyle/>
          <a:p>
            <a:r>
              <a:rPr lang="en-US" dirty="0">
                <a:latin typeface="Times New Roman" panose="02020603050405020304" pitchFamily="18" charset="0"/>
                <a:cs typeface="Times New Roman" panose="02020603050405020304" pitchFamily="18" charset="0"/>
              </a:rPr>
              <a:t>Research </a:t>
            </a:r>
            <a:r>
              <a:rPr lang="en-US" dirty="0" smtClean="0">
                <a:latin typeface="Times New Roman" panose="02020603050405020304" pitchFamily="18" charset="0"/>
                <a:cs typeface="Times New Roman" panose="02020603050405020304" pitchFamily="18" charset="0"/>
              </a:rPr>
              <a:t>Question.</a:t>
            </a:r>
            <a:endParaRPr lang="ru-RU" dirty="0">
              <a:latin typeface="Times New Roman" panose="02020603050405020304" pitchFamily="18" charset="0"/>
              <a:cs typeface="Times New Roman" panose="02020603050405020304" pitchFamily="18" charset="0"/>
            </a:endParaRPr>
          </a:p>
        </p:txBody>
      </p:sp>
      <p:sp>
        <p:nvSpPr>
          <p:cNvPr id="5" name="Текст 4">
            <a:extLst>
              <a:ext uri="{FF2B5EF4-FFF2-40B4-BE49-F238E27FC236}">
                <a16:creationId xmlns:a16="http://schemas.microsoft.com/office/drawing/2014/main" id="{53463A2E-711B-0B4E-ABC0-1C3B01B412F6}"/>
              </a:ext>
            </a:extLst>
          </p:cNvPr>
          <p:cNvSpPr>
            <a:spLocks noGrp="1"/>
          </p:cNvSpPr>
          <p:nvPr>
            <p:ph type="body" sz="quarter" idx="12"/>
          </p:nvPr>
        </p:nvSpPr>
        <p:spPr>
          <a:xfrm>
            <a:off x="585898" y="1943565"/>
            <a:ext cx="4322531" cy="2399371"/>
          </a:xfrm>
        </p:spPr>
        <p:txBody>
          <a:bodyPr/>
          <a:lstStyle/>
          <a:p>
            <a:r>
              <a:rPr lang="en-US" dirty="0">
                <a:latin typeface="Times New Roman" panose="02020603050405020304" pitchFamily="18" charset="0"/>
                <a:cs typeface="Times New Roman" panose="02020603050405020304" pitchFamily="18" charset="0"/>
              </a:rPr>
              <a:t>Can a </a:t>
            </a:r>
            <a:r>
              <a:rPr lang="en-US" dirty="0" err="1">
                <a:latin typeface="Times New Roman" panose="02020603050405020304" pitchFamily="18" charset="0"/>
                <a:cs typeface="Times New Roman" panose="02020603050405020304" pitchFamily="18" charset="0"/>
              </a:rPr>
              <a:t>DeiT</a:t>
            </a:r>
            <a:r>
              <a:rPr lang="en-US" dirty="0">
                <a:latin typeface="Times New Roman" panose="02020603050405020304" pitchFamily="18" charset="0"/>
                <a:cs typeface="Times New Roman" panose="02020603050405020304" pitchFamily="18" charset="0"/>
              </a:rPr>
              <a:t>-Tiny backbone (3 heads, 12 layers, 192-dim) drive a lightweight segmentation head that is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sufficiently accurate on Cityscapes, </a:t>
            </a:r>
            <a:r>
              <a:rPr lang="en-US" dirty="0" smtClean="0">
                <a:latin typeface="Times New Roman" panose="02020603050405020304" pitchFamily="18" charset="0"/>
                <a:cs typeface="Times New Roman" panose="02020603050405020304" pitchFamily="18" charset="0"/>
              </a:rPr>
              <a:t>and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on commodity hardware</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while keeping the pipeline simple enough for deployment (ONNX)?</a:t>
            </a:r>
            <a:endParaRPr lang="ru-RU" dirty="0">
              <a:latin typeface="Times New Roman" panose="02020603050405020304" pitchFamily="18" charset="0"/>
              <a:cs typeface="Times New Roman" panose="02020603050405020304" pitchFamily="18" charset="0"/>
            </a:endParaRPr>
          </a:p>
        </p:txBody>
      </p:sp>
      <p:sp>
        <p:nvSpPr>
          <p:cNvPr id="6" name="Текст 5">
            <a:extLst>
              <a:ext uri="{FF2B5EF4-FFF2-40B4-BE49-F238E27FC236}">
                <a16:creationId xmlns:a16="http://schemas.microsoft.com/office/drawing/2014/main" id="{D3194695-389E-EF40-9EB6-192AF89531C5}"/>
              </a:ext>
            </a:extLst>
          </p:cNvPr>
          <p:cNvSpPr>
            <a:spLocks noGrp="1"/>
          </p:cNvSpPr>
          <p:nvPr>
            <p:ph type="body" sz="quarter" idx="13"/>
          </p:nvPr>
        </p:nvSpPr>
        <p:spPr>
          <a:xfrm>
            <a:off x="1143689" y="540904"/>
            <a:ext cx="2190354" cy="415925"/>
          </a:xfrm>
        </p:spPr>
        <p:txBody>
          <a:bodyPr/>
          <a:lstStyle/>
          <a:p>
            <a:r>
              <a:rPr lang="en-US" dirty="0"/>
              <a:t>Faculty of Computer Science. </a:t>
            </a:r>
            <a:endParaRPr lang="ru-RU" dirty="0"/>
          </a:p>
          <a:p>
            <a:endParaRPr lang="ru-RU" dirty="0"/>
          </a:p>
        </p:txBody>
      </p:sp>
      <p:pic>
        <p:nvPicPr>
          <p:cNvPr id="3" name="Picture 2"/>
          <p:cNvPicPr>
            <a:picLocks noChangeAspect="1"/>
          </p:cNvPicPr>
          <p:nvPr/>
        </p:nvPicPr>
        <p:blipFill>
          <a:blip r:embed="rId2"/>
          <a:stretch>
            <a:fillRect/>
          </a:stretch>
        </p:blipFill>
        <p:spPr>
          <a:xfrm>
            <a:off x="6259892" y="2532185"/>
            <a:ext cx="5134939" cy="1171199"/>
          </a:xfrm>
          <a:prstGeom prst="rect">
            <a:avLst/>
          </a:prstGeom>
        </p:spPr>
      </p:pic>
      <p:sp>
        <p:nvSpPr>
          <p:cNvPr id="9" name="TextBox 8"/>
          <p:cNvSpPr txBox="1"/>
          <p:nvPr/>
        </p:nvSpPr>
        <p:spPr>
          <a:xfrm>
            <a:off x="10466363" y="540904"/>
            <a:ext cx="928468" cy="246221"/>
          </a:xfrm>
          <a:prstGeom prst="rect">
            <a:avLst/>
          </a:prstGeom>
          <a:noFill/>
        </p:spPr>
        <p:txBody>
          <a:bodyPr wrap="square" rtlCol="0">
            <a:spAutoFit/>
          </a:bodyPr>
          <a:lstStyle/>
          <a:p>
            <a:pPr algn="l"/>
            <a:r>
              <a:rPr lang="en-US" sz="1000" dirty="0" smtClean="0">
                <a:latin typeface="HSE Sans" panose="02000000000000000000" pitchFamily="2" charset="0"/>
              </a:rPr>
              <a:t>4/15</a:t>
            </a:r>
            <a:endParaRPr lang="en-US" sz="1000" dirty="0">
              <a:latin typeface="HSE Sans" panose="02000000000000000000" pitchFamily="2" charset="0"/>
            </a:endParaRPr>
          </a:p>
        </p:txBody>
      </p:sp>
    </p:spTree>
    <p:extLst>
      <p:ext uri="{BB962C8B-B14F-4D97-AF65-F5344CB8AC3E}">
        <p14:creationId xmlns:p14="http://schemas.microsoft.com/office/powerpoint/2010/main" val="4957627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7B7925-15F2-FE46-8057-16C238D2A77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 &amp; </a:t>
            </a:r>
            <a:r>
              <a:rPr lang="en-US" dirty="0" smtClean="0">
                <a:latin typeface="Times New Roman" panose="02020603050405020304" pitchFamily="18" charset="0"/>
                <a:cs typeface="Times New Roman" panose="02020603050405020304" pitchFamily="18" charset="0"/>
              </a:rPr>
              <a:t>Labels.</a:t>
            </a:r>
            <a:endParaRPr lang="ru-RU" dirty="0">
              <a:latin typeface="Times New Roman" panose="02020603050405020304" pitchFamily="18" charset="0"/>
              <a:cs typeface="Times New Roman" panose="02020603050405020304" pitchFamily="18" charset="0"/>
            </a:endParaRPr>
          </a:p>
        </p:txBody>
      </p:sp>
      <p:sp>
        <p:nvSpPr>
          <p:cNvPr id="3" name="Текст 2">
            <a:extLst>
              <a:ext uri="{FF2B5EF4-FFF2-40B4-BE49-F238E27FC236}">
                <a16:creationId xmlns:a16="http://schemas.microsoft.com/office/drawing/2014/main" id="{C368357B-B74C-3F46-ABEA-915FE8D74C3F}"/>
              </a:ext>
            </a:extLst>
          </p:cNvPr>
          <p:cNvSpPr>
            <a:spLocks noGrp="1"/>
          </p:cNvSpPr>
          <p:nvPr>
            <p:ph type="body" sz="quarter" idx="12"/>
          </p:nvPr>
        </p:nvSpPr>
        <p:spPr>
          <a:xfrm>
            <a:off x="585898" y="1894796"/>
            <a:ext cx="4322531" cy="2399371"/>
          </a:xfrm>
        </p:spPr>
        <p:txBody>
          <a:bodyPr>
            <a:normAutofit fontScale="92500" lnSpcReduction="20000"/>
          </a:bodyPr>
          <a:lstStyle/>
          <a:p>
            <a:r>
              <a:rPr lang="en-US" sz="1800" dirty="0">
                <a:latin typeface="Times New Roman" panose="02020603050405020304" pitchFamily="18" charset="0"/>
                <a:cs typeface="Times New Roman" panose="02020603050405020304" pitchFamily="18" charset="0"/>
              </a:rPr>
              <a:t>Dataset: Cityscapes (train/</a:t>
            </a:r>
            <a:r>
              <a:rPr lang="en-US" sz="1800" dirty="0" err="1">
                <a:latin typeface="Times New Roman" panose="02020603050405020304" pitchFamily="18" charset="0"/>
                <a:cs typeface="Times New Roman" panose="02020603050405020304" pitchFamily="18" charset="0"/>
              </a:rPr>
              <a:t>val</a:t>
            </a:r>
            <a:r>
              <a:rPr lang="en-US" sz="1800" dirty="0">
                <a:latin typeface="Times New Roman" panose="02020603050405020304" pitchFamily="18" charset="0"/>
                <a:cs typeface="Times New Roman" panose="02020603050405020304" pitchFamily="18" charset="0"/>
              </a:rPr>
              <a:t>), 19 classes, urban street scenes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Prep: scripts/prepare_cityscapes.py → standardized images/ and masks/, square-pad/resize</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Training size: 256×256 (fast) ; I</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also profiled 160/192/224</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Splits discovered by loader: 2,975 train pairs, 500 </a:t>
            </a:r>
            <a:r>
              <a:rPr lang="en-US" sz="1800" dirty="0" err="1">
                <a:latin typeface="Times New Roman" panose="02020603050405020304" pitchFamily="18" charset="0"/>
                <a:cs typeface="Times New Roman" panose="02020603050405020304" pitchFamily="18" charset="0"/>
              </a:rPr>
              <a:t>val</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pairs.</a:t>
            </a:r>
          </a:p>
          <a:p>
            <a:endParaRPr lang="ru-RU" dirty="0">
              <a:latin typeface="Times New Roman" panose="02020603050405020304" pitchFamily="18" charset="0"/>
              <a:cs typeface="Times New Roman" panose="02020603050405020304" pitchFamily="18" charset="0"/>
            </a:endParaRPr>
          </a:p>
        </p:txBody>
      </p:sp>
      <p:sp>
        <p:nvSpPr>
          <p:cNvPr id="6" name="Текст 5">
            <a:extLst>
              <a:ext uri="{FF2B5EF4-FFF2-40B4-BE49-F238E27FC236}">
                <a16:creationId xmlns:a16="http://schemas.microsoft.com/office/drawing/2014/main" id="{B49CC8AE-0FE8-D44F-AB94-9FF99546E515}"/>
              </a:ext>
            </a:extLst>
          </p:cNvPr>
          <p:cNvSpPr>
            <a:spLocks noGrp="1"/>
          </p:cNvSpPr>
          <p:nvPr>
            <p:ph type="body" sz="quarter" idx="13"/>
          </p:nvPr>
        </p:nvSpPr>
        <p:spPr>
          <a:xfrm>
            <a:off x="1143689" y="540904"/>
            <a:ext cx="2091880" cy="415925"/>
          </a:xfrm>
        </p:spPr>
        <p:txBody>
          <a:bodyPr/>
          <a:lstStyle/>
          <a:p>
            <a:r>
              <a:rPr lang="en-US" dirty="0"/>
              <a:t>Faculty of Computer Science. </a:t>
            </a:r>
            <a:endParaRPr lang="ru-RU" dirty="0"/>
          </a:p>
          <a:p>
            <a:endParaRPr lang="ru-RU" dirty="0"/>
          </a:p>
        </p:txBody>
      </p:sp>
      <p:graphicFrame>
        <p:nvGraphicFramePr>
          <p:cNvPr id="9" name="Chart 2">
            <a:extLst>
              <a:ext uri="{FF2B5EF4-FFF2-40B4-BE49-F238E27FC236}">
                <a16:creationId xmlns:a16="http://schemas.microsoft.com/office/drawing/2014/main" id="{393AD814-0988-884E-93E6-AC16A440D0C4}"/>
              </a:ext>
            </a:extLst>
          </p:cNvPr>
          <p:cNvGraphicFramePr/>
          <p:nvPr>
            <p:extLst>
              <p:ext uri="{D42A27DB-BD31-4B8C-83A1-F6EECF244321}">
                <p14:modId xmlns:p14="http://schemas.microsoft.com/office/powerpoint/2010/main" val="1484138365"/>
              </p:ext>
            </p:extLst>
          </p:nvPr>
        </p:nvGraphicFramePr>
        <p:xfrm>
          <a:off x="5164930" y="1460275"/>
          <a:ext cx="6476207" cy="476599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10466363" y="540904"/>
            <a:ext cx="942535" cy="246221"/>
          </a:xfrm>
          <a:prstGeom prst="rect">
            <a:avLst/>
          </a:prstGeom>
          <a:noFill/>
        </p:spPr>
        <p:txBody>
          <a:bodyPr wrap="square" rtlCol="0">
            <a:spAutoFit/>
          </a:bodyPr>
          <a:lstStyle/>
          <a:p>
            <a:pPr algn="l"/>
            <a:r>
              <a:rPr lang="en-US" sz="1000" dirty="0" smtClean="0">
                <a:latin typeface="HSE Sans" panose="02000000000000000000" pitchFamily="2" charset="0"/>
              </a:rPr>
              <a:t>5/15</a:t>
            </a:r>
            <a:endParaRPr lang="en-US" sz="1000" dirty="0">
              <a:latin typeface="HSE Sans" panose="02000000000000000000" pitchFamily="2" charset="0"/>
            </a:endParaRPr>
          </a:p>
        </p:txBody>
      </p:sp>
    </p:spTree>
    <p:extLst>
      <p:ext uri="{BB962C8B-B14F-4D97-AF65-F5344CB8AC3E}">
        <p14:creationId xmlns:p14="http://schemas.microsoft.com/office/powerpoint/2010/main" val="16489885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33333" r="33333"/>
          <a:stretch>
            <a:fillRect/>
          </a:stretch>
        </p:blipFill>
        <p:spPr/>
      </p:pic>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 &amp; </a:t>
            </a:r>
            <a:r>
              <a:rPr lang="en-US" dirty="0" smtClean="0">
                <a:latin typeface="Times New Roman" panose="02020603050405020304" pitchFamily="18" charset="0"/>
                <a:cs typeface="Times New Roman" panose="02020603050405020304" pitchFamily="18" charset="0"/>
              </a:rPr>
              <a:t>Training.</a:t>
            </a:r>
            <a:endParaRPr lang="en-US"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quarter" idx="12"/>
          </p:nvPr>
        </p:nvSpPr>
        <p:spPr>
          <a:xfrm>
            <a:off x="585898" y="1913726"/>
            <a:ext cx="5245561" cy="3393234"/>
          </a:xfrm>
        </p:spPr>
        <p:txBody>
          <a:bodyPr>
            <a:norm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Backbone: </a:t>
            </a:r>
            <a:r>
              <a:rPr lang="en-US" sz="1600" dirty="0" err="1">
                <a:latin typeface="Times New Roman" panose="02020603050405020304" pitchFamily="18" charset="0"/>
                <a:cs typeface="Times New Roman" panose="02020603050405020304" pitchFamily="18" charset="0"/>
              </a:rPr>
              <a:t>DeiT</a:t>
            </a:r>
            <a:r>
              <a:rPr lang="en-US" sz="1600" dirty="0">
                <a:latin typeface="Times New Roman" panose="02020603050405020304" pitchFamily="18" charset="0"/>
                <a:cs typeface="Times New Roman" panose="02020603050405020304" pitchFamily="18" charset="0"/>
              </a:rPr>
              <a:t>-Tiny (patch=16, dim=192, depth=12, heads=3</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Head: minimal 1×1 </a:t>
            </a:r>
            <a:r>
              <a:rPr lang="en-US" sz="1600" dirty="0" err="1">
                <a:latin typeface="Times New Roman" panose="02020603050405020304" pitchFamily="18" charset="0"/>
                <a:cs typeface="Times New Roman" panose="02020603050405020304" pitchFamily="18" charset="0"/>
              </a:rPr>
              <a:t>conv</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upsample</a:t>
            </a:r>
            <a:r>
              <a:rPr lang="en-US" sz="1600" dirty="0">
                <a:latin typeface="Times New Roman" panose="02020603050405020304" pitchFamily="18" charset="0"/>
                <a:cs typeface="Times New Roman" panose="02020603050405020304" pitchFamily="18" charset="0"/>
              </a:rPr>
              <a:t> to input size</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Loss: </a:t>
            </a:r>
            <a:r>
              <a:rPr lang="en-US" sz="1600" dirty="0" err="1">
                <a:latin typeface="Times New Roman" panose="02020603050405020304" pitchFamily="18" charset="0"/>
                <a:cs typeface="Times New Roman" panose="02020603050405020304" pitchFamily="18" charset="0"/>
              </a:rPr>
              <a:t>CrossEntropy</a:t>
            </a:r>
            <a:r>
              <a:rPr lang="en-US" sz="1600" dirty="0">
                <a:latin typeface="Times New Roman" panose="02020603050405020304" pitchFamily="18" charset="0"/>
                <a:cs typeface="Times New Roman" panose="02020603050405020304" pitchFamily="18" charset="0"/>
              </a:rPr>
              <a:t> with ignore-index for unlabeled pixels</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Config</a:t>
            </a:r>
            <a:r>
              <a:rPr lang="en-US" sz="1600" dirty="0">
                <a:latin typeface="Times New Roman" panose="02020603050405020304" pitchFamily="18" charset="0"/>
                <a:cs typeface="Times New Roman" panose="02020603050405020304" pitchFamily="18" charset="0"/>
              </a:rPr>
              <a:t> (final run): </a:t>
            </a:r>
            <a:r>
              <a:rPr lang="en-US" sz="1600" dirty="0" err="1">
                <a:latin typeface="Times New Roman" panose="02020603050405020304" pitchFamily="18" charset="0"/>
                <a:cs typeface="Times New Roman" panose="02020603050405020304" pitchFamily="18" charset="0"/>
              </a:rPr>
              <a:t>img_size</a:t>
            </a:r>
            <a:r>
              <a:rPr lang="en-US" sz="1600" dirty="0">
                <a:latin typeface="Times New Roman" panose="02020603050405020304" pitchFamily="18" charset="0"/>
                <a:cs typeface="Times New Roman" panose="02020603050405020304" pitchFamily="18" charset="0"/>
              </a:rPr>
              <a:t>=256, epochs=20, </a:t>
            </a:r>
            <a:r>
              <a:rPr lang="en-US" sz="1600" dirty="0" smtClean="0">
                <a:latin typeface="Times New Roman" panose="02020603050405020304" pitchFamily="18" charset="0"/>
                <a:cs typeface="Times New Roman" panose="02020603050405020304" pitchFamily="18" charset="0"/>
              </a:rPr>
              <a:t>batch=8</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Code: train.py, dataset in datasets/tiny_seg.py</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600" dirty="0" smtClean="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3"/>
          </p:nvPr>
        </p:nvSpPr>
        <p:spPr>
          <a:xfrm>
            <a:off x="1143689" y="540904"/>
            <a:ext cx="2091880" cy="415925"/>
          </a:xfrm>
        </p:spPr>
        <p:txBody>
          <a:bodyPr/>
          <a:lstStyle/>
          <a:p>
            <a:r>
              <a:rPr lang="en-US" dirty="0"/>
              <a:t>Faculty of Computer Science. </a:t>
            </a:r>
            <a:endParaRPr lang="ru-RU" dirty="0"/>
          </a:p>
          <a:p>
            <a:endParaRPr lang="en-US" dirty="0"/>
          </a:p>
        </p:txBody>
      </p:sp>
      <p:sp>
        <p:nvSpPr>
          <p:cNvPr id="2" name="TextBox 1"/>
          <p:cNvSpPr txBox="1"/>
          <p:nvPr/>
        </p:nvSpPr>
        <p:spPr>
          <a:xfrm>
            <a:off x="10522634" y="540904"/>
            <a:ext cx="886264" cy="246221"/>
          </a:xfrm>
          <a:prstGeom prst="rect">
            <a:avLst/>
          </a:prstGeom>
          <a:noFill/>
        </p:spPr>
        <p:txBody>
          <a:bodyPr wrap="square" rtlCol="0">
            <a:spAutoFit/>
          </a:bodyPr>
          <a:lstStyle/>
          <a:p>
            <a:pPr algn="l"/>
            <a:r>
              <a:rPr lang="en-US" sz="1000" dirty="0" smtClean="0">
                <a:latin typeface="HSE Sans" panose="02000000000000000000" pitchFamily="2" charset="0"/>
              </a:rPr>
              <a:t>6/15</a:t>
            </a:r>
            <a:endParaRPr lang="en-US" sz="1000" dirty="0">
              <a:latin typeface="HSE Sans" panose="02000000000000000000" pitchFamily="2" charset="0"/>
            </a:endParaRPr>
          </a:p>
        </p:txBody>
      </p:sp>
    </p:spTree>
    <p:extLst>
      <p:ext uri="{BB962C8B-B14F-4D97-AF65-F5344CB8AC3E}">
        <p14:creationId xmlns:p14="http://schemas.microsoft.com/office/powerpoint/2010/main" val="8443127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was Implemented (beyond just running code)</a:t>
            </a:r>
          </a:p>
        </p:txBody>
      </p:sp>
      <p:sp>
        <p:nvSpPr>
          <p:cNvPr id="4" name="Text Placeholder 3"/>
          <p:cNvSpPr>
            <a:spLocks noGrp="1"/>
          </p:cNvSpPr>
          <p:nvPr>
            <p:ph type="body" sz="quarter" idx="12"/>
          </p:nvPr>
        </p:nvSpPr>
        <p:spPr>
          <a:xfrm>
            <a:off x="585897" y="2379663"/>
            <a:ext cx="10837069" cy="3393234"/>
          </a:xfrm>
        </p:spPr>
        <p:txBody>
          <a:bodyPr>
            <a:norm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From scratch implementation of dataset, loader, tiny segmentation head, training &amp; </a:t>
            </a:r>
            <a:r>
              <a:rPr lang="en-US" sz="1600" dirty="0" err="1">
                <a:latin typeface="Times New Roman" panose="02020603050405020304" pitchFamily="18" charset="0"/>
                <a:cs typeface="Times New Roman" panose="02020603050405020304" pitchFamily="18" charset="0"/>
              </a:rPr>
              <a:t>eval</a:t>
            </a:r>
            <a:r>
              <a:rPr lang="en-US" sz="1600" dirty="0">
                <a:latin typeface="Times New Roman" panose="02020603050405020304" pitchFamily="18" charset="0"/>
                <a:cs typeface="Times New Roman" panose="02020603050405020304" pitchFamily="18" charset="0"/>
              </a:rPr>
              <a:t> loops</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Cityscapes prep script + sanity checks of pair counts</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ONNX export (scripts/export_onnx.py) with dynamic shapes and </a:t>
            </a:r>
            <a:r>
              <a:rPr lang="en-US" sz="1600" dirty="0" err="1">
                <a:latin typeface="Times New Roman" panose="02020603050405020304" pitchFamily="18" charset="0"/>
                <a:cs typeface="Times New Roman" panose="02020603050405020304" pitchFamily="18" charset="0"/>
              </a:rPr>
              <a:t>opset</a:t>
            </a:r>
            <a:r>
              <a:rPr lang="en-US" sz="1600" dirty="0">
                <a:latin typeface="Times New Roman" panose="02020603050405020304" pitchFamily="18" charset="0"/>
                <a:cs typeface="Times New Roman" panose="02020603050405020304" pitchFamily="18" charset="0"/>
              </a:rPr>
              <a:t> handling</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Deployment utilities: streaming inference + metrics (deploy/), overlay video maker</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Profiling: automated FPS/latency sweep across input sizes.</a:t>
            </a:r>
          </a:p>
        </p:txBody>
      </p:sp>
      <p:sp>
        <p:nvSpPr>
          <p:cNvPr id="5" name="Text Placeholder 4"/>
          <p:cNvSpPr>
            <a:spLocks noGrp="1"/>
          </p:cNvSpPr>
          <p:nvPr>
            <p:ph type="body" sz="quarter" idx="13"/>
          </p:nvPr>
        </p:nvSpPr>
        <p:spPr>
          <a:xfrm>
            <a:off x="1143689" y="540904"/>
            <a:ext cx="2176286" cy="415925"/>
          </a:xfrm>
        </p:spPr>
        <p:txBody>
          <a:bodyPr/>
          <a:lstStyle/>
          <a:p>
            <a:r>
              <a:rPr lang="en-US" dirty="0"/>
              <a:t>Faculty of Computer Science. </a:t>
            </a:r>
            <a:endParaRPr lang="ru-RU" dirty="0"/>
          </a:p>
          <a:p>
            <a:endParaRPr lang="en-US" dirty="0"/>
          </a:p>
        </p:txBody>
      </p:sp>
      <p:sp>
        <p:nvSpPr>
          <p:cNvPr id="2" name="TextBox 1"/>
          <p:cNvSpPr txBox="1"/>
          <p:nvPr/>
        </p:nvSpPr>
        <p:spPr>
          <a:xfrm>
            <a:off x="10508566" y="540904"/>
            <a:ext cx="1012874" cy="246221"/>
          </a:xfrm>
          <a:prstGeom prst="rect">
            <a:avLst/>
          </a:prstGeom>
          <a:noFill/>
        </p:spPr>
        <p:txBody>
          <a:bodyPr wrap="square" rtlCol="0">
            <a:spAutoFit/>
          </a:bodyPr>
          <a:lstStyle/>
          <a:p>
            <a:pPr algn="l"/>
            <a:r>
              <a:rPr lang="en-US" sz="1000" dirty="0" smtClean="0">
                <a:latin typeface="HSE Sans" panose="02000000000000000000" pitchFamily="2" charset="0"/>
              </a:rPr>
              <a:t>7/15</a:t>
            </a:r>
            <a:endParaRPr lang="en-US" sz="1000" dirty="0">
              <a:latin typeface="HSE Sans" panose="02000000000000000000" pitchFamily="2" charset="0"/>
            </a:endParaRPr>
          </a:p>
        </p:txBody>
      </p:sp>
    </p:spTree>
    <p:extLst>
      <p:ext uri="{BB962C8B-B14F-4D97-AF65-F5344CB8AC3E}">
        <p14:creationId xmlns:p14="http://schemas.microsoft.com/office/powerpoint/2010/main" val="2273709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898" y="1279733"/>
            <a:ext cx="5245560" cy="777025"/>
          </a:xfrm>
        </p:spPr>
        <p:txBody>
          <a:bodyPr/>
          <a:lstStyle/>
          <a:p>
            <a:r>
              <a:rPr lang="en-US" dirty="0">
                <a:latin typeface="Times New Roman" panose="02020603050405020304" pitchFamily="18" charset="0"/>
                <a:cs typeface="Times New Roman" panose="02020603050405020304" pitchFamily="18" charset="0"/>
              </a:rPr>
              <a:t>Validation Results (Accuracy)</a:t>
            </a:r>
          </a:p>
        </p:txBody>
      </p:sp>
      <p:sp>
        <p:nvSpPr>
          <p:cNvPr id="4" name="Text Placeholder 3"/>
          <p:cNvSpPr>
            <a:spLocks noGrp="1"/>
          </p:cNvSpPr>
          <p:nvPr>
            <p:ph type="body" sz="quarter" idx="12"/>
          </p:nvPr>
        </p:nvSpPr>
        <p:spPr>
          <a:xfrm>
            <a:off x="585898" y="1913726"/>
            <a:ext cx="5357014" cy="3393234"/>
          </a:xfrm>
        </p:spPr>
        <p:txBody>
          <a:bodyPr/>
          <a:lstStyle/>
          <a:p>
            <a:pPr marL="285750" indent="-285750">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mIoU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val</a:t>
            </a:r>
            <a:r>
              <a:rPr lang="en-US" b="1" dirty="0">
                <a:latin typeface="Times New Roman" panose="02020603050405020304" pitchFamily="18" charset="0"/>
                <a:cs typeface="Times New Roman" panose="02020603050405020304" pitchFamily="18" charset="0"/>
              </a:rPr>
              <a:t>, 19 classes):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0.2616</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256×256</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DeiT</a:t>
            </a:r>
            <a:r>
              <a:rPr lang="en-US" dirty="0">
                <a:latin typeface="Times New Roman" panose="02020603050405020304" pitchFamily="18" charset="0"/>
                <a:cs typeface="Times New Roman" panose="02020603050405020304" pitchFamily="18" charset="0"/>
              </a:rPr>
              <a:t>-Tiny + simple head, </a:t>
            </a:r>
            <a:r>
              <a:rPr lang="en-US" b="1" dirty="0">
                <a:latin typeface="Times New Roman" panose="02020603050405020304" pitchFamily="18" charset="0"/>
                <a:cs typeface="Times New Roman" panose="02020603050405020304" pitchFamily="18" charset="0"/>
              </a:rPr>
              <a:t>20 epochs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expectedly modest (tiny model, short schedule, no heavy augmentations/decoders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Still, masks are coherent in many regions; serves as a fast baseline for robotics </a:t>
            </a:r>
            <a:r>
              <a:rPr lang="en-US" dirty="0" smtClean="0">
                <a:latin typeface="Times New Roman" panose="02020603050405020304" pitchFamily="18" charset="0"/>
                <a:cs typeface="Times New Roman" panose="02020603050405020304" pitchFamily="18" charset="0"/>
              </a:rPr>
              <a:t>demos.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3"/>
          </p:nvPr>
        </p:nvSpPr>
        <p:spPr>
          <a:xfrm>
            <a:off x="1143689" y="540904"/>
            <a:ext cx="2120016" cy="415925"/>
          </a:xfrm>
        </p:spPr>
        <p:txBody>
          <a:bodyPr/>
          <a:lstStyle/>
          <a:p>
            <a:r>
              <a:rPr lang="en-US" dirty="0"/>
              <a:t>Faculty of Computer Science. </a:t>
            </a:r>
            <a:endParaRPr lang="ru-RU" dirty="0"/>
          </a:p>
          <a:p>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2912" y="867137"/>
            <a:ext cx="6056831" cy="5486411"/>
          </a:xfrm>
          <a:prstGeom prst="rect">
            <a:avLst/>
          </a:prstGeom>
        </p:spPr>
      </p:pic>
      <p:sp>
        <p:nvSpPr>
          <p:cNvPr id="2" name="TextBox 1"/>
          <p:cNvSpPr txBox="1"/>
          <p:nvPr/>
        </p:nvSpPr>
        <p:spPr>
          <a:xfrm>
            <a:off x="10353822" y="540904"/>
            <a:ext cx="1097280" cy="246221"/>
          </a:xfrm>
          <a:prstGeom prst="rect">
            <a:avLst/>
          </a:prstGeom>
          <a:noFill/>
        </p:spPr>
        <p:txBody>
          <a:bodyPr wrap="square" rtlCol="0">
            <a:spAutoFit/>
          </a:bodyPr>
          <a:lstStyle/>
          <a:p>
            <a:pPr algn="l"/>
            <a:r>
              <a:rPr lang="en-US" sz="1000" dirty="0" smtClean="0">
                <a:latin typeface="HSE Sans" panose="02000000000000000000" pitchFamily="2" charset="0"/>
              </a:rPr>
              <a:t>8/15</a:t>
            </a:r>
            <a:endParaRPr lang="en-US" sz="1000" dirty="0">
              <a:latin typeface="HSE Sans" panose="02000000000000000000" pitchFamily="2" charset="0"/>
            </a:endParaRPr>
          </a:p>
        </p:txBody>
      </p:sp>
    </p:spTree>
    <p:extLst>
      <p:ext uri="{BB962C8B-B14F-4D97-AF65-F5344CB8AC3E}">
        <p14:creationId xmlns:p14="http://schemas.microsoft.com/office/powerpoint/2010/main" val="5266095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Runtime Results (Speed vs Size)</a:t>
            </a:r>
          </a:p>
        </p:txBody>
      </p:sp>
      <p:sp>
        <p:nvSpPr>
          <p:cNvPr id="4" name="Text Placeholder 3"/>
          <p:cNvSpPr>
            <a:spLocks noGrp="1"/>
          </p:cNvSpPr>
          <p:nvPr>
            <p:ph type="body" sz="quarter" idx="12"/>
          </p:nvPr>
        </p:nvSpPr>
        <p:spPr>
          <a:xfrm>
            <a:off x="585898" y="2379663"/>
            <a:ext cx="4731690" cy="3393234"/>
          </a:xfrm>
        </p:spPr>
        <p:txBody>
          <a:bodyPr/>
          <a:lstStyle/>
          <a:p>
            <a:r>
              <a:rPr lang="en-US" dirty="0"/>
              <a:t>Video inference (stream</a:t>
            </a:r>
            <a:r>
              <a:rPr lang="en-US" dirty="0" smtClean="0"/>
              <a:t>):</a:t>
            </a:r>
          </a:p>
          <a:p>
            <a:r>
              <a:rPr lang="en-US" dirty="0" smtClean="0"/>
              <a:t>P95- 95</a:t>
            </a:r>
            <a:r>
              <a:rPr lang="en-US" baseline="30000" dirty="0" smtClean="0"/>
              <a:t>th</a:t>
            </a:r>
            <a:r>
              <a:rPr lang="en-US" dirty="0" smtClean="0"/>
              <a:t> percentile inference time.</a:t>
            </a:r>
          </a:p>
          <a:p>
            <a:r>
              <a:rPr lang="en-US" dirty="0" err="1" smtClean="0"/>
              <a:t>FPS_Frames</a:t>
            </a:r>
            <a:r>
              <a:rPr lang="en-US" dirty="0" smtClean="0"/>
              <a:t> per second</a:t>
            </a:r>
          </a:p>
          <a:p>
            <a:r>
              <a:rPr lang="en-US" dirty="0" err="1"/>
              <a:t>m</a:t>
            </a:r>
            <a:r>
              <a:rPr lang="en-US" dirty="0" err="1" smtClean="0"/>
              <a:t>s</a:t>
            </a:r>
            <a:r>
              <a:rPr lang="en-US" dirty="0" smtClean="0"/>
              <a:t> – milliseconds. </a:t>
            </a:r>
            <a:endParaRPr lang="en-US" dirty="0"/>
          </a:p>
        </p:txBody>
      </p:sp>
      <p:sp>
        <p:nvSpPr>
          <p:cNvPr id="5" name="Text Placeholder 4"/>
          <p:cNvSpPr>
            <a:spLocks noGrp="1"/>
          </p:cNvSpPr>
          <p:nvPr>
            <p:ph type="body" sz="quarter" idx="13"/>
          </p:nvPr>
        </p:nvSpPr>
        <p:spPr>
          <a:xfrm>
            <a:off x="1143689" y="540904"/>
            <a:ext cx="2091880" cy="415925"/>
          </a:xfrm>
        </p:spPr>
        <p:txBody>
          <a:bodyPr/>
          <a:lstStyle/>
          <a:p>
            <a:r>
              <a:rPr lang="en-US" dirty="0"/>
              <a:t>Faculty of Computer Science. </a:t>
            </a:r>
            <a:endParaRPr lang="ru-RU" dirty="0"/>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194395363"/>
              </p:ext>
            </p:extLst>
          </p:nvPr>
        </p:nvGraphicFramePr>
        <p:xfrm>
          <a:off x="5529263" y="2325606"/>
          <a:ext cx="6057900" cy="185420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923010432"/>
                    </a:ext>
                  </a:extLst>
                </a:gridCol>
                <a:gridCol w="2019300">
                  <a:extLst>
                    <a:ext uri="{9D8B030D-6E8A-4147-A177-3AD203B41FA5}">
                      <a16:colId xmlns:a16="http://schemas.microsoft.com/office/drawing/2014/main" val="2154193376"/>
                    </a:ext>
                  </a:extLst>
                </a:gridCol>
                <a:gridCol w="2019300">
                  <a:extLst>
                    <a:ext uri="{9D8B030D-6E8A-4147-A177-3AD203B41FA5}">
                      <a16:colId xmlns:a16="http://schemas.microsoft.com/office/drawing/2014/main" val="3247108477"/>
                    </a:ext>
                  </a:extLst>
                </a:gridCol>
              </a:tblGrid>
              <a:tr h="370840">
                <a:tc>
                  <a:txBody>
                    <a:bodyPr/>
                    <a:lstStyle/>
                    <a:p>
                      <a:r>
                        <a:rPr lang="en-US" dirty="0" smtClean="0"/>
                        <a:t>Size</a:t>
                      </a:r>
                      <a:endParaRPr lang="en-US" dirty="0"/>
                    </a:p>
                  </a:txBody>
                  <a:tcPr/>
                </a:tc>
                <a:tc>
                  <a:txBody>
                    <a:bodyPr/>
                    <a:lstStyle/>
                    <a:p>
                      <a:r>
                        <a:rPr lang="en-US" dirty="0" smtClean="0"/>
                        <a:t>Speed</a:t>
                      </a:r>
                      <a:r>
                        <a:rPr lang="en-US" baseline="0" dirty="0" smtClean="0"/>
                        <a:t>(FPS)</a:t>
                      </a:r>
                      <a:endParaRPr lang="en-US" dirty="0"/>
                    </a:p>
                  </a:txBody>
                  <a:tcPr/>
                </a:tc>
                <a:tc>
                  <a:txBody>
                    <a:bodyPr/>
                    <a:lstStyle/>
                    <a:p>
                      <a:r>
                        <a:rPr lang="en-US" dirty="0" smtClean="0"/>
                        <a:t>Speed(</a:t>
                      </a:r>
                      <a:r>
                        <a:rPr lang="en-US" dirty="0" err="1" smtClean="0"/>
                        <a:t>ms</a:t>
                      </a:r>
                      <a:r>
                        <a:rPr lang="en-US" dirty="0" smtClean="0"/>
                        <a:t>)</a:t>
                      </a:r>
                      <a:endParaRPr lang="en-US" dirty="0"/>
                    </a:p>
                  </a:txBody>
                  <a:tcPr/>
                </a:tc>
                <a:extLst>
                  <a:ext uri="{0D108BD9-81ED-4DB2-BD59-A6C34878D82A}">
                    <a16:rowId xmlns:a16="http://schemas.microsoft.com/office/drawing/2014/main" val="906323287"/>
                  </a:ext>
                </a:extLst>
              </a:tr>
              <a:tr h="370840">
                <a:tc>
                  <a:txBody>
                    <a:bodyPr/>
                    <a:lstStyle/>
                    <a:p>
                      <a:r>
                        <a:rPr lang="en-US" dirty="0" smtClean="0"/>
                        <a:t>160x160</a:t>
                      </a:r>
                      <a:endParaRPr lang="en-US" dirty="0"/>
                    </a:p>
                  </a:txBody>
                  <a:tcPr/>
                </a:tc>
                <a:tc>
                  <a:txBody>
                    <a:bodyPr/>
                    <a:lstStyle/>
                    <a:p>
                      <a:r>
                        <a:rPr lang="en-US" dirty="0" smtClean="0"/>
                        <a:t>158</a:t>
                      </a:r>
                      <a:endParaRPr lang="en-US" dirty="0"/>
                    </a:p>
                  </a:txBody>
                  <a:tcPr/>
                </a:tc>
                <a:tc>
                  <a:txBody>
                    <a:bodyPr/>
                    <a:lstStyle/>
                    <a:p>
                      <a:r>
                        <a:rPr lang="en-US" dirty="0" smtClean="0"/>
                        <a:t>6.73</a:t>
                      </a:r>
                      <a:endParaRPr lang="en-US" dirty="0"/>
                    </a:p>
                  </a:txBody>
                  <a:tcPr/>
                </a:tc>
                <a:extLst>
                  <a:ext uri="{0D108BD9-81ED-4DB2-BD59-A6C34878D82A}">
                    <a16:rowId xmlns:a16="http://schemas.microsoft.com/office/drawing/2014/main" val="3104897664"/>
                  </a:ext>
                </a:extLst>
              </a:tr>
              <a:tr h="370840">
                <a:tc>
                  <a:txBody>
                    <a:bodyPr/>
                    <a:lstStyle/>
                    <a:p>
                      <a:r>
                        <a:rPr lang="en-US" dirty="0" smtClean="0"/>
                        <a:t>192x192</a:t>
                      </a:r>
                      <a:endParaRPr lang="en-US" dirty="0"/>
                    </a:p>
                  </a:txBody>
                  <a:tcPr/>
                </a:tc>
                <a:tc>
                  <a:txBody>
                    <a:bodyPr/>
                    <a:lstStyle/>
                    <a:p>
                      <a:r>
                        <a:rPr lang="en-US" dirty="0" smtClean="0"/>
                        <a:t>122</a:t>
                      </a:r>
                      <a:endParaRPr lang="en-US" dirty="0"/>
                    </a:p>
                  </a:txBody>
                  <a:tcPr/>
                </a:tc>
                <a:tc>
                  <a:txBody>
                    <a:bodyPr/>
                    <a:lstStyle/>
                    <a:p>
                      <a:r>
                        <a:rPr lang="en-US" dirty="0" smtClean="0"/>
                        <a:t>9.43</a:t>
                      </a:r>
                      <a:endParaRPr lang="en-US" dirty="0"/>
                    </a:p>
                  </a:txBody>
                  <a:tcPr/>
                </a:tc>
                <a:extLst>
                  <a:ext uri="{0D108BD9-81ED-4DB2-BD59-A6C34878D82A}">
                    <a16:rowId xmlns:a16="http://schemas.microsoft.com/office/drawing/2014/main" val="1795353326"/>
                  </a:ext>
                </a:extLst>
              </a:tr>
              <a:tr h="370840">
                <a:tc>
                  <a:txBody>
                    <a:bodyPr/>
                    <a:lstStyle/>
                    <a:p>
                      <a:r>
                        <a:rPr lang="en-US" dirty="0" smtClean="0"/>
                        <a:t>224x224</a:t>
                      </a:r>
                      <a:endParaRPr lang="en-US" dirty="0"/>
                    </a:p>
                  </a:txBody>
                  <a:tcPr/>
                </a:tc>
                <a:tc>
                  <a:txBody>
                    <a:bodyPr/>
                    <a:lstStyle/>
                    <a:p>
                      <a:r>
                        <a:rPr lang="en-US" dirty="0" smtClean="0"/>
                        <a:t>99</a:t>
                      </a:r>
                      <a:endParaRPr lang="en-US" dirty="0"/>
                    </a:p>
                  </a:txBody>
                  <a:tcPr/>
                </a:tc>
                <a:tc>
                  <a:txBody>
                    <a:bodyPr/>
                    <a:lstStyle/>
                    <a:p>
                      <a:r>
                        <a:rPr lang="en-US" dirty="0" smtClean="0"/>
                        <a:t>11.24</a:t>
                      </a:r>
                      <a:endParaRPr lang="en-US" dirty="0"/>
                    </a:p>
                  </a:txBody>
                  <a:tcPr/>
                </a:tc>
                <a:extLst>
                  <a:ext uri="{0D108BD9-81ED-4DB2-BD59-A6C34878D82A}">
                    <a16:rowId xmlns:a16="http://schemas.microsoft.com/office/drawing/2014/main" val="391965768"/>
                  </a:ext>
                </a:extLst>
              </a:tr>
              <a:tr h="370840">
                <a:tc>
                  <a:txBody>
                    <a:bodyPr/>
                    <a:lstStyle/>
                    <a:p>
                      <a:r>
                        <a:rPr lang="en-US" dirty="0" smtClean="0"/>
                        <a:t>256x256</a:t>
                      </a:r>
                      <a:endParaRPr lang="en-US" dirty="0"/>
                    </a:p>
                  </a:txBody>
                  <a:tcPr/>
                </a:tc>
                <a:tc>
                  <a:txBody>
                    <a:bodyPr/>
                    <a:lstStyle/>
                    <a:p>
                      <a:r>
                        <a:rPr lang="en-US" dirty="0" smtClean="0"/>
                        <a:t>43</a:t>
                      </a:r>
                      <a:endParaRPr lang="en-US" dirty="0"/>
                    </a:p>
                  </a:txBody>
                  <a:tcPr/>
                </a:tc>
                <a:tc>
                  <a:txBody>
                    <a:bodyPr/>
                    <a:lstStyle/>
                    <a:p>
                      <a:r>
                        <a:rPr lang="en-US" dirty="0" smtClean="0"/>
                        <a:t>25.35</a:t>
                      </a:r>
                      <a:endParaRPr lang="en-US" dirty="0"/>
                    </a:p>
                  </a:txBody>
                  <a:tcPr/>
                </a:tc>
                <a:extLst>
                  <a:ext uri="{0D108BD9-81ED-4DB2-BD59-A6C34878D82A}">
                    <a16:rowId xmlns:a16="http://schemas.microsoft.com/office/drawing/2014/main" val="1324663068"/>
                  </a:ext>
                </a:extLst>
              </a:tr>
            </a:tbl>
          </a:graphicData>
        </a:graphic>
      </p:graphicFrame>
      <p:sp>
        <p:nvSpPr>
          <p:cNvPr id="2" name="TextBox 1"/>
          <p:cNvSpPr txBox="1"/>
          <p:nvPr/>
        </p:nvSpPr>
        <p:spPr>
          <a:xfrm>
            <a:off x="10396025" y="540904"/>
            <a:ext cx="1191138" cy="246221"/>
          </a:xfrm>
          <a:prstGeom prst="rect">
            <a:avLst/>
          </a:prstGeom>
          <a:noFill/>
        </p:spPr>
        <p:txBody>
          <a:bodyPr wrap="square" rtlCol="0">
            <a:spAutoFit/>
          </a:bodyPr>
          <a:lstStyle/>
          <a:p>
            <a:pPr algn="l"/>
            <a:r>
              <a:rPr lang="en-US" sz="1000" dirty="0" smtClean="0">
                <a:latin typeface="HSE Sans" panose="02000000000000000000" pitchFamily="2" charset="0"/>
              </a:rPr>
              <a:t>9/15</a:t>
            </a:r>
            <a:endParaRPr lang="en-US" sz="1000" dirty="0">
              <a:latin typeface="HSE Sans" panose="02000000000000000000" pitchFamily="2" charset="0"/>
            </a:endParaRPr>
          </a:p>
        </p:txBody>
      </p:sp>
    </p:spTree>
    <p:extLst>
      <p:ext uri="{BB962C8B-B14F-4D97-AF65-F5344CB8AC3E}">
        <p14:creationId xmlns:p14="http://schemas.microsoft.com/office/powerpoint/2010/main" val="18460678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9321" y="1960572"/>
            <a:ext cx="9695137" cy="1401605"/>
          </a:xfrm>
        </p:spPr>
        <p:txBody>
          <a:bodyPr>
            <a:normAutofit/>
          </a:bodyPr>
          <a:lstStyle/>
          <a:p>
            <a:r>
              <a:rPr lang="en-US" dirty="0">
                <a:latin typeface="Times New Roman" panose="02020603050405020304" pitchFamily="18" charset="0"/>
                <a:cs typeface="Times New Roman" panose="02020603050405020304" pitchFamily="18" charset="0"/>
              </a:rPr>
              <a:t>Paper vs. my results (How to Compare Fairly)</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0"/>
          </p:nvPr>
        </p:nvSpPr>
        <p:spPr/>
        <p:txBody>
          <a:bodyPr/>
          <a:lstStyle/>
          <a:p>
            <a:r>
              <a:rPr lang="en-US" dirty="0">
                <a:latin typeface="Times New Roman" panose="02020603050405020304" pitchFamily="18" charset="0"/>
                <a:cs typeface="Times New Roman" panose="02020603050405020304" pitchFamily="18" charset="0"/>
              </a:rPr>
              <a:t>Faculty of Computer Science. </a:t>
            </a:r>
            <a:endParaRPr lang="ru-RU" dirty="0">
              <a:latin typeface="Times New Roman" panose="02020603050405020304" pitchFamily="18" charset="0"/>
              <a:cs typeface="Times New Roman" panose="02020603050405020304" pitchFamily="18" charset="0"/>
            </a:endParaRPr>
          </a:p>
          <a:p>
            <a:endParaRPr lang="en-US" dirty="0"/>
          </a:p>
        </p:txBody>
      </p:sp>
      <p:sp>
        <p:nvSpPr>
          <p:cNvPr id="6" name="Text Placeholder 5"/>
          <p:cNvSpPr>
            <a:spLocks noGrp="1"/>
          </p:cNvSpPr>
          <p:nvPr>
            <p:ph type="body" sz="quarter" idx="13"/>
          </p:nvPr>
        </p:nvSpPr>
        <p:spPr>
          <a:xfrm>
            <a:off x="1161453" y="3981157"/>
            <a:ext cx="10177107" cy="1392339"/>
          </a:xfrm>
        </p:spPr>
        <p:txBody>
          <a:bodyPr>
            <a:normAutofit/>
          </a:bodyPr>
          <a:lstStyle/>
          <a:p>
            <a:r>
              <a:rPr lang="en-US" dirty="0" smtClean="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DeiT</a:t>
            </a:r>
            <a:r>
              <a:rPr lang="en-US" dirty="0">
                <a:latin typeface="Times New Roman" panose="02020603050405020304" pitchFamily="18" charset="0"/>
                <a:cs typeface="Times New Roman" panose="02020603050405020304" pitchFamily="18" charset="0"/>
              </a:rPr>
              <a:t> paper reports ImageNet-1K classification accuracy (Top-1/Top-5), while </a:t>
            </a:r>
            <a:r>
              <a:rPr lang="en-US" dirty="0" smtClean="0">
                <a:latin typeface="Times New Roman" panose="02020603050405020304" pitchFamily="18" charset="0"/>
                <a:cs typeface="Times New Roman" panose="02020603050405020304" pitchFamily="18" charset="0"/>
              </a:rPr>
              <a:t>I report </a:t>
            </a:r>
            <a:r>
              <a:rPr lang="en-US" dirty="0">
                <a:latin typeface="Times New Roman" panose="02020603050405020304" pitchFamily="18" charset="0"/>
                <a:cs typeface="Times New Roman" panose="02020603050405020304" pitchFamily="18" charset="0"/>
              </a:rPr>
              <a:t>Cityscapes segmentation accuracy (</a:t>
            </a:r>
            <a:r>
              <a:rPr lang="en-US" dirty="0" err="1">
                <a:latin typeface="Times New Roman" panose="02020603050405020304" pitchFamily="18" charset="0"/>
                <a:cs typeface="Times New Roman" panose="02020603050405020304" pitchFamily="18" charset="0"/>
              </a:rPr>
              <a:t>mIoU</a:t>
            </a:r>
            <a:r>
              <a:rPr lang="en-US" dirty="0">
                <a:latin typeface="Times New Roman" panose="02020603050405020304" pitchFamily="18" charset="0"/>
                <a:cs typeface="Times New Roman" panose="02020603050405020304" pitchFamily="18" charset="0"/>
              </a:rPr>
              <a:t>). Different tasks ⇒ different metrics.</a:t>
            </a:r>
          </a:p>
        </p:txBody>
      </p:sp>
      <p:sp>
        <p:nvSpPr>
          <p:cNvPr id="7" name="TextBox 6"/>
          <p:cNvSpPr txBox="1"/>
          <p:nvPr/>
        </p:nvSpPr>
        <p:spPr>
          <a:xfrm>
            <a:off x="9087729" y="1187841"/>
            <a:ext cx="1266093" cy="246221"/>
          </a:xfrm>
          <a:prstGeom prst="rect">
            <a:avLst/>
          </a:prstGeom>
          <a:noFill/>
        </p:spPr>
        <p:txBody>
          <a:bodyPr wrap="square" rtlCol="0">
            <a:spAutoFit/>
          </a:bodyPr>
          <a:lstStyle/>
          <a:p>
            <a:pPr algn="l"/>
            <a:r>
              <a:rPr lang="en-US" sz="1000" dirty="0" smtClean="0">
                <a:latin typeface="HSE Sans" panose="02000000000000000000" pitchFamily="2" charset="0"/>
              </a:rPr>
              <a:t>10/15</a:t>
            </a:r>
            <a:endParaRPr lang="en-US" sz="1000" dirty="0">
              <a:latin typeface="HSE Sans" panose="02000000000000000000" pitchFamily="2" charset="0"/>
            </a:endParaRPr>
          </a:p>
        </p:txBody>
      </p:sp>
    </p:spTree>
    <p:extLst>
      <p:ext uri="{BB962C8B-B14F-4D97-AF65-F5344CB8AC3E}">
        <p14:creationId xmlns:p14="http://schemas.microsoft.com/office/powerpoint/2010/main" val="29817937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898" y="1059277"/>
            <a:ext cx="9824194" cy="388513"/>
          </a:xfrm>
        </p:spPr>
        <p:txBody>
          <a:bodyPr>
            <a:normAutofit/>
          </a:bodyPr>
          <a:lstStyle/>
          <a:p>
            <a:r>
              <a:rPr lang="en-US" dirty="0">
                <a:latin typeface="Times New Roman" panose="02020603050405020304" pitchFamily="18" charset="0"/>
                <a:cs typeface="Times New Roman" panose="02020603050405020304" pitchFamily="18" charset="0"/>
              </a:rPr>
              <a:t>Paper vs. my results (How to Compare Fairly)</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quarter" idx="12"/>
          </p:nvPr>
        </p:nvSpPr>
        <p:spPr>
          <a:xfrm>
            <a:off x="585899" y="1580596"/>
            <a:ext cx="3057634" cy="3393234"/>
          </a:xfrm>
        </p:spPr>
        <p:txBody>
          <a:bodyPr/>
          <a:lstStyle/>
          <a:p>
            <a:endParaRPr lang="en-US" dirty="0" smtClean="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DeiT</a:t>
            </a:r>
            <a:r>
              <a:rPr lang="en-US" sz="1800" dirty="0">
                <a:latin typeface="Times New Roman" panose="02020603050405020304" pitchFamily="18" charset="0"/>
                <a:cs typeface="Times New Roman" panose="02020603050405020304" pitchFamily="18" charset="0"/>
              </a:rPr>
              <a:t> proves efficiency for classification; I transfer that efficiency to segmentation and show real-time deployment with a tiny backbone. My accuracy is a baseline (short training, light head) that can be improved with longer training and a stronger decoder.</a:t>
            </a:r>
          </a:p>
        </p:txBody>
      </p:sp>
      <p:sp>
        <p:nvSpPr>
          <p:cNvPr id="5" name="Text Placeholder 4"/>
          <p:cNvSpPr>
            <a:spLocks noGrp="1"/>
          </p:cNvSpPr>
          <p:nvPr>
            <p:ph type="body" sz="quarter" idx="13"/>
          </p:nvPr>
        </p:nvSpPr>
        <p:spPr>
          <a:xfrm>
            <a:off x="1143689" y="540904"/>
            <a:ext cx="2091880" cy="415925"/>
          </a:xfrm>
        </p:spPr>
        <p:txBody>
          <a:bodyPr/>
          <a:lstStyle/>
          <a:p>
            <a:r>
              <a:rPr lang="en-US" dirty="0"/>
              <a:t>Faculty of Computer Science. </a:t>
            </a:r>
            <a:endParaRPr lang="ru-RU" dirty="0"/>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004347243"/>
              </p:ext>
            </p:extLst>
          </p:nvPr>
        </p:nvGraphicFramePr>
        <p:xfrm>
          <a:off x="3768657" y="1447790"/>
          <a:ext cx="8127999" cy="4856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250423740"/>
                    </a:ext>
                  </a:extLst>
                </a:gridCol>
                <a:gridCol w="2709333">
                  <a:extLst>
                    <a:ext uri="{9D8B030D-6E8A-4147-A177-3AD203B41FA5}">
                      <a16:colId xmlns:a16="http://schemas.microsoft.com/office/drawing/2014/main" val="2268886858"/>
                    </a:ext>
                  </a:extLst>
                </a:gridCol>
                <a:gridCol w="2709333">
                  <a:extLst>
                    <a:ext uri="{9D8B030D-6E8A-4147-A177-3AD203B41FA5}">
                      <a16:colId xmlns:a16="http://schemas.microsoft.com/office/drawing/2014/main" val="896542318"/>
                    </a:ext>
                  </a:extLst>
                </a:gridCol>
              </a:tblGrid>
              <a:tr h="370840">
                <a:tc>
                  <a:txBody>
                    <a:bodyPr/>
                    <a:lstStyle/>
                    <a:p>
                      <a:r>
                        <a:rPr lang="en-US" dirty="0" smtClean="0">
                          <a:latin typeface="Times New Roman" panose="02020603050405020304" pitchFamily="18" charset="0"/>
                          <a:cs typeface="Times New Roman" panose="02020603050405020304" pitchFamily="18" charset="0"/>
                        </a:rPr>
                        <a:t>Metric / Setting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DeiT</a:t>
                      </a:r>
                      <a:r>
                        <a:rPr lang="en-US" dirty="0" smtClean="0">
                          <a:latin typeface="Times New Roman" panose="02020603050405020304" pitchFamily="18" charset="0"/>
                          <a:cs typeface="Times New Roman" panose="02020603050405020304" pitchFamily="18" charset="0"/>
                        </a:rPr>
                        <a:t> (paper)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project</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1582532"/>
                  </a:ext>
                </a:extLst>
              </a:tr>
              <a:tr h="370840">
                <a:tc>
                  <a:txBody>
                    <a:bodyPr/>
                    <a:lstStyle/>
                    <a:p>
                      <a:r>
                        <a:rPr lang="en-US" dirty="0" smtClean="0">
                          <a:latin typeface="Times New Roman" panose="02020603050405020304" pitchFamily="18" charset="0"/>
                          <a:cs typeface="Times New Roman" panose="02020603050405020304" pitchFamily="18" charset="0"/>
                        </a:rPr>
                        <a:t>Task</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Image classification (ImageNet-1K, 224×224)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Semantic segmentation (Cityscapes, 256×256)</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2721649"/>
                  </a:ext>
                </a:extLst>
              </a:tr>
              <a:tr h="370840">
                <a:tc>
                  <a:txBody>
                    <a:bodyPr/>
                    <a:lstStyle/>
                    <a:p>
                      <a:r>
                        <a:rPr lang="en-US" dirty="0" smtClean="0">
                          <a:latin typeface="Times New Roman" panose="02020603050405020304" pitchFamily="18" charset="0"/>
                          <a:cs typeface="Times New Roman" panose="02020603050405020304" pitchFamily="18" charset="0"/>
                        </a:rPr>
                        <a:t>Backbone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DeiT</a:t>
                      </a:r>
                      <a:r>
                        <a:rPr lang="en-US" dirty="0" smtClean="0">
                          <a:latin typeface="Times New Roman" panose="02020603050405020304" pitchFamily="18" charset="0"/>
                          <a:cs typeface="Times New Roman" panose="02020603050405020304" pitchFamily="18" charset="0"/>
                        </a:rPr>
                        <a:t>-Tiny (</a:t>
                      </a:r>
                      <a:r>
                        <a:rPr lang="en-US" dirty="0" err="1" smtClean="0">
                          <a:latin typeface="Times New Roman" panose="02020603050405020304" pitchFamily="18" charset="0"/>
                          <a:cs typeface="Times New Roman" panose="02020603050405020304" pitchFamily="18" charset="0"/>
                        </a:rPr>
                        <a:t>ViT-Ti</a:t>
                      </a:r>
                      <a:r>
                        <a:rPr lang="en-US" dirty="0" smtClean="0">
                          <a:latin typeface="Times New Roman" panose="02020603050405020304" pitchFamily="18" charset="0"/>
                          <a:cs typeface="Times New Roman" panose="02020603050405020304" pitchFamily="18" charset="0"/>
                        </a:rPr>
                        <a:t>/16)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DeiT</a:t>
                      </a:r>
                      <a:r>
                        <a:rPr lang="en-US" dirty="0" smtClean="0">
                          <a:latin typeface="Times New Roman" panose="02020603050405020304" pitchFamily="18" charset="0"/>
                          <a:cs typeface="Times New Roman" panose="02020603050405020304" pitchFamily="18" charset="0"/>
                        </a:rPr>
                        <a:t>-Tiny + 1×1 </a:t>
                      </a:r>
                      <a:r>
                        <a:rPr lang="en-US" dirty="0" err="1" smtClean="0">
                          <a:latin typeface="Times New Roman" panose="02020603050405020304" pitchFamily="18" charset="0"/>
                          <a:cs typeface="Times New Roman" panose="02020603050405020304" pitchFamily="18" charset="0"/>
                        </a:rPr>
                        <a:t>conv</a:t>
                      </a:r>
                      <a:r>
                        <a:rPr lang="en-US" dirty="0" smtClean="0">
                          <a:latin typeface="Times New Roman" panose="02020603050405020304" pitchFamily="18" charset="0"/>
                          <a:cs typeface="Times New Roman" panose="02020603050405020304" pitchFamily="18" charset="0"/>
                        </a:rPr>
                        <a:t> head + </a:t>
                      </a:r>
                      <a:r>
                        <a:rPr lang="en-US" dirty="0" err="1" smtClean="0">
                          <a:latin typeface="Times New Roman" panose="02020603050405020304" pitchFamily="18" charset="0"/>
                          <a:cs typeface="Times New Roman" panose="02020603050405020304" pitchFamily="18" charset="0"/>
                        </a:rPr>
                        <a:t>upsample</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2639028"/>
                  </a:ext>
                </a:extLst>
              </a:tr>
              <a:tr h="370840">
                <a:tc>
                  <a:txBody>
                    <a:bodyPr/>
                    <a:lstStyle/>
                    <a:p>
                      <a:r>
                        <a:rPr lang="en-US" dirty="0" smtClean="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Top-1 = 72.2% (</a:t>
                      </a:r>
                      <a:r>
                        <a:rPr lang="en-US" dirty="0" err="1" smtClean="0">
                          <a:latin typeface="Times New Roman" panose="02020603050405020304" pitchFamily="18" charset="0"/>
                          <a:cs typeface="Times New Roman" panose="02020603050405020304" pitchFamily="18" charset="0"/>
                        </a:rPr>
                        <a:t>DeiT</a:t>
                      </a:r>
                      <a:r>
                        <a:rPr lang="en-US" dirty="0" smtClean="0">
                          <a:latin typeface="Times New Roman" panose="02020603050405020304" pitchFamily="18" charset="0"/>
                          <a:cs typeface="Times New Roman" panose="02020603050405020304" pitchFamily="18" charset="0"/>
                        </a:rPr>
                        <a:t>-Tiny) / 74.5% (</a:t>
                      </a:r>
                      <a:r>
                        <a:rPr lang="en-US" dirty="0" err="1" smtClean="0">
                          <a:latin typeface="Times New Roman" panose="02020603050405020304" pitchFamily="18" charset="0"/>
                          <a:cs typeface="Times New Roman" panose="02020603050405020304" pitchFamily="18" charset="0"/>
                        </a:rPr>
                        <a:t>DeiT</a:t>
                      </a:r>
                      <a:r>
                        <a:rPr lang="en-US" dirty="0" smtClean="0">
                          <a:latin typeface="Times New Roman" panose="02020603050405020304" pitchFamily="18" charset="0"/>
                          <a:cs typeface="Times New Roman" panose="02020603050405020304" pitchFamily="18" charset="0"/>
                        </a:rPr>
                        <a:t>-Tiny distilled)</a:t>
                      </a:r>
                      <a:endParaRPr lang="en-US" dirty="0">
                        <a:latin typeface="Times New Roman" panose="02020603050405020304" pitchFamily="18" charset="0"/>
                        <a:cs typeface="Times New Roman" panose="02020603050405020304" pitchFamily="18" charset="0"/>
                      </a:endParaRPr>
                    </a:p>
                  </a:txBody>
                  <a:tcPr/>
                </a:tc>
                <a:tc>
                  <a:txBody>
                    <a:bodyPr/>
                    <a:lstStyle/>
                    <a:p>
                      <a:r>
                        <a:rPr lang="fr-FR" dirty="0" err="1" smtClean="0">
                          <a:latin typeface="Times New Roman" panose="02020603050405020304" pitchFamily="18" charset="0"/>
                          <a:cs typeface="Times New Roman" panose="02020603050405020304" pitchFamily="18" charset="0"/>
                        </a:rPr>
                        <a:t>mIoU</a:t>
                      </a:r>
                      <a:r>
                        <a:rPr lang="fr-FR" dirty="0" smtClean="0">
                          <a:latin typeface="Times New Roman" panose="02020603050405020304" pitchFamily="18" charset="0"/>
                          <a:cs typeface="Times New Roman" panose="02020603050405020304" pitchFamily="18" charset="0"/>
                        </a:rPr>
                        <a:t> ≈ 0.262 (validation, 19 classes)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6769238"/>
                  </a:ext>
                </a:extLst>
              </a:tr>
              <a:tr h="370840">
                <a:tc>
                  <a:txBody>
                    <a:bodyPr/>
                    <a:lstStyle/>
                    <a:p>
                      <a:r>
                        <a:rPr lang="en-US" dirty="0" smtClean="0">
                          <a:latin typeface="Times New Roman" panose="02020603050405020304" pitchFamily="18" charset="0"/>
                          <a:cs typeface="Times New Roman" panose="02020603050405020304" pitchFamily="18" charset="0"/>
                        </a:rPr>
                        <a:t>Top-5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91.1% (Tiny) / 91.9% (Tiny-distilled)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n/a (segmentation)</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13041925"/>
                  </a:ext>
                </a:extLst>
              </a:tr>
              <a:tr h="370840">
                <a:tc>
                  <a:txBody>
                    <a:bodyPr/>
                    <a:lstStyle/>
                    <a:p>
                      <a:r>
                        <a:rPr lang="en-US" dirty="0" smtClean="0">
                          <a:latin typeface="Times New Roman" panose="02020603050405020304" pitchFamily="18" charset="0"/>
                          <a:cs typeface="Times New Roman" panose="02020603050405020304" pitchFamily="18" charset="0"/>
                        </a:rPr>
                        <a:t>Training budget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Full ImageNet schedule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~20 epochs, 256 </a:t>
                      </a:r>
                      <a:r>
                        <a:rPr lang="en-US" dirty="0" err="1" smtClean="0">
                          <a:latin typeface="Times New Roman" panose="02020603050405020304" pitchFamily="18" charset="0"/>
                          <a:cs typeface="Times New Roman" panose="02020603050405020304" pitchFamily="18" charset="0"/>
                        </a:rPr>
                        <a:t>px</a:t>
                      </a:r>
                      <a:r>
                        <a:rPr lang="en-US" dirty="0" smtClean="0">
                          <a:latin typeface="Times New Roman" panose="02020603050405020304" pitchFamily="18" charset="0"/>
                          <a:cs typeface="Times New Roman" panose="02020603050405020304" pitchFamily="18" charset="0"/>
                        </a:rPr>
                        <a:t>, quick baseline</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5207558"/>
                  </a:ext>
                </a:extLst>
              </a:tr>
              <a:tr h="370840">
                <a:tc>
                  <a:txBody>
                    <a:bodyPr/>
                    <a:lstStyle/>
                    <a:p>
                      <a:r>
                        <a:rPr lang="en-US" dirty="0" smtClean="0">
                          <a:latin typeface="Times New Roman" panose="02020603050405020304" pitchFamily="18" charset="0"/>
                          <a:cs typeface="Times New Roman" panose="02020603050405020304" pitchFamily="18" charset="0"/>
                        </a:rPr>
                        <a:t>Deployment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Not the paper’s focus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ONNX Runtime, FPS &amp; p95 latency profiled</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6417582"/>
                  </a:ext>
                </a:extLst>
              </a:tr>
              <a:tr h="370840">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941276378"/>
                  </a:ext>
                </a:extLst>
              </a:tr>
            </a:tbl>
          </a:graphicData>
        </a:graphic>
      </p:graphicFrame>
      <p:sp>
        <p:nvSpPr>
          <p:cNvPr id="9" name="TextBox 8"/>
          <p:cNvSpPr txBox="1"/>
          <p:nvPr/>
        </p:nvSpPr>
        <p:spPr>
          <a:xfrm>
            <a:off x="10410092" y="540904"/>
            <a:ext cx="984739" cy="246221"/>
          </a:xfrm>
          <a:prstGeom prst="rect">
            <a:avLst/>
          </a:prstGeom>
          <a:noFill/>
        </p:spPr>
        <p:txBody>
          <a:bodyPr wrap="square" rtlCol="0">
            <a:spAutoFit/>
          </a:bodyPr>
          <a:lstStyle/>
          <a:p>
            <a:pPr algn="l"/>
            <a:r>
              <a:rPr lang="en-US" sz="1000" dirty="0" smtClean="0">
                <a:latin typeface="HSE Sans" panose="02000000000000000000" pitchFamily="2" charset="0"/>
              </a:rPr>
              <a:t>11/15</a:t>
            </a:r>
            <a:endParaRPr lang="en-US" sz="1000" dirty="0">
              <a:latin typeface="HSE Sans" panose="02000000000000000000" pitchFamily="2" charset="0"/>
            </a:endParaRPr>
          </a:p>
        </p:txBody>
      </p:sp>
    </p:spTree>
    <p:extLst>
      <p:ext uri="{BB962C8B-B14F-4D97-AF65-F5344CB8AC3E}">
        <p14:creationId xmlns:p14="http://schemas.microsoft.com/office/powerpoint/2010/main" val="18953294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Deployment: What’s Ready</a:t>
            </a:r>
          </a:p>
        </p:txBody>
      </p:sp>
      <p:sp>
        <p:nvSpPr>
          <p:cNvPr id="4" name="Text Placeholder 3"/>
          <p:cNvSpPr>
            <a:spLocks noGrp="1"/>
          </p:cNvSpPr>
          <p:nvPr>
            <p:ph type="body" sz="quarter" idx="12"/>
          </p:nvPr>
        </p:nvSpPr>
        <p:spPr>
          <a:xfrm>
            <a:off x="585897" y="2379663"/>
            <a:ext cx="10808934" cy="3393234"/>
          </a:xfrm>
        </p:spPr>
        <p: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Export: artifacts/</a:t>
            </a:r>
            <a:r>
              <a:rPr lang="en-US" dirty="0" err="1">
                <a:latin typeface="Times New Roman" panose="02020603050405020304" pitchFamily="18" charset="0"/>
                <a:cs typeface="Times New Roman" panose="02020603050405020304" pitchFamily="18" charset="0"/>
              </a:rPr>
              <a:t>deit_tiny_dynamic.onnx</a:t>
            </a:r>
            <a:r>
              <a:rPr lang="en-US" dirty="0">
                <a:latin typeface="Times New Roman" panose="02020603050405020304" pitchFamily="18" charset="0"/>
                <a:cs typeface="Times New Roman" panose="02020603050405020304" pitchFamily="18" charset="0"/>
              </a:rPr>
              <a:t> (dynamic H×W</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Stream demo: scripts/make_video_from_sample.py → artifacts/urban_overlay.mp4</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Latency/throughput CSVs for sizing decisions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ONNXRuntime</a:t>
            </a:r>
            <a:r>
              <a:rPr lang="en-US" dirty="0">
                <a:latin typeface="Times New Roman" panose="02020603050405020304" pitchFamily="18" charset="0"/>
                <a:cs typeface="Times New Roman" panose="02020603050405020304" pitchFamily="18" charset="0"/>
              </a:rPr>
              <a:t> on CPU already runs ≥99 FPS at 224×224 (real-time).</a:t>
            </a:r>
          </a:p>
        </p:txBody>
      </p:sp>
      <p:sp>
        <p:nvSpPr>
          <p:cNvPr id="5" name="Text Placeholder 4"/>
          <p:cNvSpPr>
            <a:spLocks noGrp="1"/>
          </p:cNvSpPr>
          <p:nvPr>
            <p:ph type="body" sz="quarter" idx="13"/>
          </p:nvPr>
        </p:nvSpPr>
        <p:spPr>
          <a:xfrm>
            <a:off x="1143689" y="540904"/>
            <a:ext cx="2091880" cy="415925"/>
          </a:xfrm>
        </p:spPr>
        <p:txBody>
          <a:bodyPr/>
          <a:lstStyle/>
          <a:p>
            <a:r>
              <a:rPr lang="en-US" dirty="0">
                <a:latin typeface="Times New Roman" panose="02020603050405020304" pitchFamily="18" charset="0"/>
                <a:cs typeface="Times New Roman" panose="02020603050405020304" pitchFamily="18" charset="0"/>
              </a:rPr>
              <a:t>Faculty of Computer Science. </a:t>
            </a:r>
            <a:endParaRPr lang="ru-RU" dirty="0">
              <a:latin typeface="Times New Roman" panose="02020603050405020304" pitchFamily="18" charset="0"/>
              <a:cs typeface="Times New Roman" panose="02020603050405020304" pitchFamily="18" charset="0"/>
            </a:endParaRPr>
          </a:p>
          <a:p>
            <a:endParaRPr lang="en-US" dirty="0"/>
          </a:p>
        </p:txBody>
      </p:sp>
      <p:sp>
        <p:nvSpPr>
          <p:cNvPr id="2" name="TextBox 1"/>
          <p:cNvSpPr txBox="1"/>
          <p:nvPr/>
        </p:nvSpPr>
        <p:spPr>
          <a:xfrm>
            <a:off x="10396025" y="540904"/>
            <a:ext cx="998806" cy="246221"/>
          </a:xfrm>
          <a:prstGeom prst="rect">
            <a:avLst/>
          </a:prstGeom>
          <a:noFill/>
        </p:spPr>
        <p:txBody>
          <a:bodyPr wrap="square" rtlCol="0">
            <a:spAutoFit/>
          </a:bodyPr>
          <a:lstStyle/>
          <a:p>
            <a:pPr algn="l"/>
            <a:r>
              <a:rPr lang="en-US" sz="1000" dirty="0" smtClean="0">
                <a:latin typeface="HSE Sans" panose="02000000000000000000" pitchFamily="2" charset="0"/>
              </a:rPr>
              <a:t>12/15</a:t>
            </a:r>
            <a:endParaRPr lang="en-US" sz="1000" dirty="0">
              <a:latin typeface="HSE Sans" panose="02000000000000000000" pitchFamily="2" charset="0"/>
            </a:endParaRPr>
          </a:p>
        </p:txBody>
      </p:sp>
    </p:spTree>
    <p:extLst>
      <p:ext uri="{BB962C8B-B14F-4D97-AF65-F5344CB8AC3E}">
        <p14:creationId xmlns:p14="http://schemas.microsoft.com/office/powerpoint/2010/main" val="16931101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a:t>
            </a:r>
            <a:r>
              <a:rPr lang="en-US" dirty="0" smtClean="0">
                <a:latin typeface="Times New Roman" panose="02020603050405020304" pitchFamily="18" charset="0"/>
                <a:cs typeface="Times New Roman" panose="02020603050405020304" pitchFamily="18" charset="0"/>
              </a:rPr>
              <a:t>Takeaways.</a:t>
            </a:r>
            <a:endParaRPr lang="en-US"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quarter" idx="12"/>
          </p:nvPr>
        </p:nvSpPr>
        <p:spPr>
          <a:xfrm>
            <a:off x="585897" y="1871002"/>
            <a:ext cx="10077414" cy="4431323"/>
          </a:xfrm>
        </p:spPr>
        <p:txBody>
          <a:bodyPr>
            <a:norm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Problem: fast, lightweight semantic segmentation for robotics/edge</a:t>
            </a:r>
            <a:r>
              <a:rPr lang="en-US" sz="18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What I</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did: adapted </a:t>
            </a:r>
            <a:r>
              <a:rPr lang="en-US" sz="1800" dirty="0" err="1">
                <a:latin typeface="Times New Roman" panose="02020603050405020304" pitchFamily="18" charset="0"/>
                <a:cs typeface="Times New Roman" panose="02020603050405020304" pitchFamily="18" charset="0"/>
              </a:rPr>
              <a:t>DeiT</a:t>
            </a:r>
            <a:r>
              <a:rPr lang="en-US" sz="1800" dirty="0">
                <a:latin typeface="Times New Roman" panose="02020603050405020304" pitchFamily="18" charset="0"/>
                <a:cs typeface="Times New Roman" panose="02020603050405020304" pitchFamily="18" charset="0"/>
              </a:rPr>
              <a:t>-Tiny to segmentation, built full train/</a:t>
            </a:r>
            <a:r>
              <a:rPr lang="en-US" sz="1800" dirty="0" err="1">
                <a:latin typeface="Times New Roman" panose="02020603050405020304" pitchFamily="18" charset="0"/>
                <a:cs typeface="Times New Roman" panose="02020603050405020304" pitchFamily="18" charset="0"/>
              </a:rPr>
              <a:t>eval</a:t>
            </a:r>
            <a:r>
              <a:rPr lang="en-US" sz="1800" dirty="0">
                <a:latin typeface="Times New Roman" panose="02020603050405020304" pitchFamily="18" charset="0"/>
                <a:cs typeface="Times New Roman" panose="02020603050405020304" pitchFamily="18" charset="0"/>
              </a:rPr>
              <a:t>/vis/deploy stack, exported ONNX, and profiled speed/latency</a:t>
            </a:r>
            <a:r>
              <a:rPr lang="en-US" sz="18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Results: </a:t>
            </a:r>
            <a:r>
              <a:rPr lang="en-US" sz="1800" dirty="0" err="1">
                <a:latin typeface="Times New Roman" panose="02020603050405020304" pitchFamily="18" charset="0"/>
                <a:cs typeface="Times New Roman" panose="02020603050405020304" pitchFamily="18" charset="0"/>
              </a:rPr>
              <a:t>mIoU</a:t>
            </a:r>
            <a:r>
              <a:rPr lang="en-US" sz="1800" dirty="0">
                <a:latin typeface="Times New Roman" panose="02020603050405020304" pitchFamily="18" charset="0"/>
                <a:cs typeface="Times New Roman" panose="02020603050405020304" pitchFamily="18" charset="0"/>
              </a:rPr>
              <a:t> 0.262 @256; real-time at 160–224; ONNX model + overlay video ready</a:t>
            </a:r>
            <a:r>
              <a:rPr lang="en-US" sz="18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DeiT’s</a:t>
            </a:r>
            <a:r>
              <a:rPr lang="en-US" sz="1800" dirty="0">
                <a:latin typeface="Times New Roman" panose="02020603050405020304" pitchFamily="18" charset="0"/>
                <a:cs typeface="Times New Roman" panose="02020603050405020304" pitchFamily="18" charset="0"/>
              </a:rPr>
              <a:t> efficiency carries over to dense tasks as a practical backbone; accuracy can be scaled with richer heads/training</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Application.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Robotics navigation &amp; tele-op </a:t>
            </a:r>
            <a:r>
              <a:rPr lang="en-US" sz="1800" dirty="0" smtClean="0">
                <a:latin typeface="Times New Roman" panose="02020603050405020304" pitchFamily="18" charset="0"/>
                <a:cs typeface="Times New Roman" panose="02020603050405020304" pitchFamily="18" charset="0"/>
              </a:rPr>
              <a:t>overlays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ADAS / autonomy prototyping (non-safety-critical</a:t>
            </a:r>
            <a:r>
              <a:rPr lang="en-US" sz="18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Traffic-camera </a:t>
            </a:r>
            <a:r>
              <a:rPr lang="en-US" sz="1800" dirty="0" smtClean="0">
                <a:latin typeface="Times New Roman" panose="02020603050405020304" pitchFamily="18" charset="0"/>
                <a:cs typeface="Times New Roman" panose="02020603050405020304" pitchFamily="18" charset="0"/>
              </a:rPr>
              <a:t>analytics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Smart-city asset mapping</a:t>
            </a:r>
            <a:endParaRPr lang="en-US" sz="18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3"/>
          </p:nvPr>
        </p:nvSpPr>
        <p:spPr>
          <a:xfrm>
            <a:off x="1143689" y="540904"/>
            <a:ext cx="2162219" cy="415925"/>
          </a:xfrm>
        </p:spPr>
        <p:txBody>
          <a:bodyPr/>
          <a:lstStyle/>
          <a:p>
            <a:r>
              <a:rPr lang="en-US" dirty="0">
                <a:latin typeface="Times New Roman" panose="02020603050405020304" pitchFamily="18" charset="0"/>
                <a:cs typeface="Times New Roman" panose="02020603050405020304" pitchFamily="18" charset="0"/>
              </a:rPr>
              <a:t>Faculty of Computer Science. </a:t>
            </a:r>
            <a:endParaRPr lang="ru-RU" dirty="0">
              <a:latin typeface="Times New Roman" panose="02020603050405020304" pitchFamily="18" charset="0"/>
              <a:cs typeface="Times New Roman" panose="02020603050405020304" pitchFamily="18" charset="0"/>
            </a:endParaRPr>
          </a:p>
          <a:p>
            <a:endParaRPr lang="en-US" dirty="0"/>
          </a:p>
        </p:txBody>
      </p:sp>
      <p:sp>
        <p:nvSpPr>
          <p:cNvPr id="8" name="TextBox 7"/>
          <p:cNvSpPr txBox="1"/>
          <p:nvPr/>
        </p:nvSpPr>
        <p:spPr>
          <a:xfrm>
            <a:off x="10367889" y="540904"/>
            <a:ext cx="1041009" cy="246221"/>
          </a:xfrm>
          <a:prstGeom prst="rect">
            <a:avLst/>
          </a:prstGeom>
          <a:noFill/>
        </p:spPr>
        <p:txBody>
          <a:bodyPr wrap="square" rtlCol="0">
            <a:spAutoFit/>
          </a:bodyPr>
          <a:lstStyle/>
          <a:p>
            <a:pPr algn="l"/>
            <a:r>
              <a:rPr lang="en-US" sz="1000" dirty="0" smtClean="0">
                <a:latin typeface="HSE Sans" panose="02000000000000000000" pitchFamily="2" charset="0"/>
              </a:rPr>
              <a:t>13/15</a:t>
            </a:r>
            <a:endParaRPr lang="en-US" sz="1000" dirty="0">
              <a:latin typeface="HSE Sans" panose="02000000000000000000" pitchFamily="2" charset="0"/>
            </a:endParaRPr>
          </a:p>
        </p:txBody>
      </p:sp>
    </p:spTree>
    <p:extLst>
      <p:ext uri="{BB962C8B-B14F-4D97-AF65-F5344CB8AC3E}">
        <p14:creationId xmlns:p14="http://schemas.microsoft.com/office/powerpoint/2010/main" val="33119889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897" y="1447790"/>
            <a:ext cx="6884047" cy="777025"/>
          </a:xfrm>
        </p:spPr>
        <p:txBody>
          <a:bodyPr/>
          <a:lstStyle/>
          <a:p>
            <a:r>
              <a:rPr lang="en-US" dirty="0">
                <a:latin typeface="Times New Roman" panose="02020603050405020304" pitchFamily="18" charset="0"/>
                <a:cs typeface="Times New Roman" panose="02020603050405020304" pitchFamily="18" charset="0"/>
              </a:rPr>
              <a:t>Limitations and Future Improvement</a:t>
            </a:r>
          </a:p>
        </p:txBody>
      </p:sp>
      <p:sp>
        <p:nvSpPr>
          <p:cNvPr id="4" name="Text Placeholder 3"/>
          <p:cNvSpPr>
            <a:spLocks noGrp="1"/>
          </p:cNvSpPr>
          <p:nvPr>
            <p:ph type="body" sz="quarter" idx="12"/>
          </p:nvPr>
        </p:nvSpPr>
        <p:spPr>
          <a:xfrm>
            <a:off x="585897" y="2379663"/>
            <a:ext cx="9950805" cy="3393234"/>
          </a:xfrm>
        </p:spPr>
        <p:txBody>
          <a:bodyPr>
            <a:normAutofit lnSpcReduction="10000"/>
          </a:bodyPr>
          <a:lstStyle/>
          <a:p>
            <a:r>
              <a:rPr lang="en-US" sz="1600" dirty="0" smtClean="0">
                <a:latin typeface="Times New Roman" panose="02020603050405020304" pitchFamily="18" charset="0"/>
                <a:cs typeface="Times New Roman" panose="02020603050405020304" pitchFamily="18" charset="0"/>
              </a:rPr>
              <a:t>Limitations: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Focused baseline: </a:t>
            </a:r>
            <a:r>
              <a:rPr lang="en-US" sz="1600" dirty="0" err="1">
                <a:latin typeface="Times New Roman" panose="02020603050405020304" pitchFamily="18" charset="0"/>
                <a:cs typeface="Times New Roman" panose="02020603050405020304" pitchFamily="18" charset="0"/>
              </a:rPr>
              <a:t>DeiT</a:t>
            </a:r>
            <a:r>
              <a:rPr lang="en-US" sz="1600" dirty="0">
                <a:latin typeface="Times New Roman" panose="02020603050405020304" pitchFamily="18" charset="0"/>
                <a:cs typeface="Times New Roman" panose="02020603050405020304" pitchFamily="18" charset="0"/>
              </a:rPr>
              <a:t>-Tiny + minimal 1×1 </a:t>
            </a:r>
            <a:r>
              <a:rPr lang="en-US" sz="1600" dirty="0" err="1">
                <a:latin typeface="Times New Roman" panose="02020603050405020304" pitchFamily="18" charset="0"/>
                <a:cs typeface="Times New Roman" panose="02020603050405020304" pitchFamily="18" charset="0"/>
              </a:rPr>
              <a:t>conv</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head.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Short training: ~20 epochs at 256×256 for </a:t>
            </a:r>
            <a:r>
              <a:rPr lang="en-US" sz="1600" dirty="0" smtClean="0">
                <a:latin typeface="Times New Roman" panose="02020603050405020304" pitchFamily="18" charset="0"/>
                <a:cs typeface="Times New Roman" panose="02020603050405020304" pitchFamily="18" charset="0"/>
              </a:rPr>
              <a:t>speed.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Evaluation breadth: validation split only; limited per-class analysis &amp; ablations</a:t>
            </a:r>
            <a:r>
              <a:rPr lang="en-US" sz="1600" dirty="0" smtClean="0">
                <a:latin typeface="Times New Roman" panose="02020603050405020304" pitchFamily="18" charset="0"/>
                <a:cs typeface="Times New Roman" panose="02020603050405020304" pitchFamily="18" charset="0"/>
              </a:rPr>
              <a:t>.</a:t>
            </a:r>
          </a:p>
          <a:p>
            <a:r>
              <a:rPr lang="en-US" sz="1600" dirty="0" smtClean="0">
                <a:latin typeface="Times New Roman" panose="02020603050405020304" pitchFamily="18" charset="0"/>
                <a:cs typeface="Times New Roman" panose="02020603050405020304" pitchFamily="18" charset="0"/>
              </a:rPr>
              <a:t>Future Improvement.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Accuracy: add a light decoder (PPM/ASPP or </a:t>
            </a:r>
            <a:r>
              <a:rPr lang="en-US" sz="1600" dirty="0" err="1">
                <a:latin typeface="Times New Roman" panose="02020603050405020304" pitchFamily="18" charset="0"/>
                <a:cs typeface="Times New Roman" panose="02020603050405020304" pitchFamily="18" charset="0"/>
              </a:rPr>
              <a:t>SegFormer</a:t>
            </a:r>
            <a:r>
              <a:rPr lang="en-US" sz="1600" dirty="0">
                <a:latin typeface="Times New Roman" panose="02020603050405020304" pitchFamily="18" charset="0"/>
                <a:cs typeface="Times New Roman" panose="02020603050405020304" pitchFamily="18" charset="0"/>
              </a:rPr>
              <a:t>-style), train longer (80–160 epochs), larger input (512×1024), cosine/</a:t>
            </a:r>
            <a:r>
              <a:rPr lang="en-US" sz="1600" dirty="0" err="1">
                <a:latin typeface="Times New Roman" panose="02020603050405020304" pitchFamily="18" charset="0"/>
                <a:cs typeface="Times New Roman" panose="02020603050405020304" pitchFamily="18" charset="0"/>
              </a:rPr>
              <a:t>OneCycle</a:t>
            </a:r>
            <a:r>
              <a:rPr lang="en-US" sz="1600" dirty="0">
                <a:latin typeface="Times New Roman" panose="02020603050405020304" pitchFamily="18" charset="0"/>
                <a:cs typeface="Times New Roman" panose="02020603050405020304" pitchFamily="18" charset="0"/>
              </a:rPr>
              <a:t> LR, class weighting / focal </a:t>
            </a:r>
            <a:r>
              <a:rPr lang="en-US" sz="1600" dirty="0" smtClean="0">
                <a:latin typeface="Times New Roman" panose="02020603050405020304" pitchFamily="18" charset="0"/>
                <a:cs typeface="Times New Roman" panose="02020603050405020304" pitchFamily="18" charset="0"/>
              </a:rPr>
              <a:t>loss.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Robustness &amp; data: stronger augmentations, domain adaptation, evaluate night/rain; add datasets (BDD100K, </a:t>
            </a:r>
            <a:r>
              <a:rPr lang="en-US" sz="1600" dirty="0" err="1">
                <a:latin typeface="Times New Roman" panose="02020603050405020304" pitchFamily="18" charset="0"/>
                <a:cs typeface="Times New Roman" panose="02020603050405020304" pitchFamily="18" charset="0"/>
              </a:rPr>
              <a:t>Mapillary</a:t>
            </a:r>
            <a:r>
              <a:rPr lang="en-US" sz="1600" dirty="0">
                <a:latin typeface="Times New Roman" panose="02020603050405020304" pitchFamily="18" charset="0"/>
                <a:cs typeface="Times New Roman" panose="02020603050405020304" pitchFamily="18" charset="0"/>
              </a:rPr>
              <a:t> Vistas</a:t>
            </a:r>
            <a:r>
              <a:rPr lang="en-US" sz="1600" dirty="0" smtClean="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Key message: this is a fast, working baseline; the path to higher accuracy and production readiness is clear and incremental</a:t>
            </a:r>
          </a:p>
        </p:txBody>
      </p:sp>
      <p:sp>
        <p:nvSpPr>
          <p:cNvPr id="5" name="Text Placeholder 4"/>
          <p:cNvSpPr>
            <a:spLocks noGrp="1"/>
          </p:cNvSpPr>
          <p:nvPr>
            <p:ph type="body" sz="quarter" idx="13"/>
          </p:nvPr>
        </p:nvSpPr>
        <p:spPr>
          <a:xfrm>
            <a:off x="1143689" y="540904"/>
            <a:ext cx="2091880" cy="415925"/>
          </a:xfrm>
        </p:spPr>
        <p:txBody>
          <a:bodyPr/>
          <a:lstStyle/>
          <a:p>
            <a:r>
              <a:rPr lang="en-US" dirty="0">
                <a:latin typeface="Times New Roman" panose="02020603050405020304" pitchFamily="18" charset="0"/>
                <a:cs typeface="Times New Roman" panose="02020603050405020304" pitchFamily="18" charset="0"/>
              </a:rPr>
              <a:t>Faculty of Computer Science. </a:t>
            </a:r>
            <a:endParaRPr lang="ru-RU" dirty="0">
              <a:latin typeface="Times New Roman" panose="02020603050405020304" pitchFamily="18" charset="0"/>
              <a:cs typeface="Times New Roman" panose="02020603050405020304" pitchFamily="18" charset="0"/>
            </a:endParaRPr>
          </a:p>
          <a:p>
            <a:endParaRPr lang="en-US" dirty="0"/>
          </a:p>
        </p:txBody>
      </p:sp>
      <p:sp>
        <p:nvSpPr>
          <p:cNvPr id="2" name="TextBox 1"/>
          <p:cNvSpPr txBox="1"/>
          <p:nvPr/>
        </p:nvSpPr>
        <p:spPr>
          <a:xfrm>
            <a:off x="10396025" y="540904"/>
            <a:ext cx="956603" cy="246221"/>
          </a:xfrm>
          <a:prstGeom prst="rect">
            <a:avLst/>
          </a:prstGeom>
          <a:noFill/>
        </p:spPr>
        <p:txBody>
          <a:bodyPr wrap="square" rtlCol="0">
            <a:spAutoFit/>
          </a:bodyPr>
          <a:lstStyle/>
          <a:p>
            <a:pPr algn="l"/>
            <a:r>
              <a:rPr lang="en-US" sz="1000" dirty="0" smtClean="0">
                <a:latin typeface="HSE Sans" panose="02000000000000000000" pitchFamily="2" charset="0"/>
              </a:rPr>
              <a:t>14/15</a:t>
            </a:r>
            <a:endParaRPr lang="en-US" sz="1000" dirty="0">
              <a:latin typeface="HSE Sans" panose="02000000000000000000" pitchFamily="2" charset="0"/>
            </a:endParaRPr>
          </a:p>
        </p:txBody>
      </p:sp>
    </p:spTree>
    <p:extLst>
      <p:ext uri="{BB962C8B-B14F-4D97-AF65-F5344CB8AC3E}">
        <p14:creationId xmlns:p14="http://schemas.microsoft.com/office/powerpoint/2010/main" val="20426099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28738" y="295422"/>
            <a:ext cx="1350499" cy="246221"/>
          </a:xfrm>
          <a:prstGeom prst="rect">
            <a:avLst/>
          </a:prstGeom>
          <a:noFill/>
        </p:spPr>
        <p:txBody>
          <a:bodyPr wrap="square" rtlCol="0">
            <a:spAutoFit/>
          </a:bodyPr>
          <a:lstStyle/>
          <a:p>
            <a:pPr algn="l"/>
            <a:r>
              <a:rPr lang="en-US" sz="1000" dirty="0" smtClean="0">
                <a:latin typeface="HSE Sans" panose="02000000000000000000" pitchFamily="2" charset="0"/>
              </a:rPr>
              <a:t>1</a:t>
            </a:r>
            <a:endParaRPr lang="en-US" sz="1000" dirty="0">
              <a:latin typeface="HSE Sans" panose="02000000000000000000" pitchFamily="2" charset="0"/>
            </a:endParaRPr>
          </a:p>
        </p:txBody>
      </p:sp>
    </p:spTree>
    <p:extLst>
      <p:ext uri="{BB962C8B-B14F-4D97-AF65-F5344CB8AC3E}">
        <p14:creationId xmlns:p14="http://schemas.microsoft.com/office/powerpoint/2010/main" val="12821619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3DAF31-D8A6-49A0-9A5D-8B2EA5B1C511}">
  <ds:schemaRefs>
    <ds:schemaRef ds:uri="9875bd71-cde8-496c-a136-433f55d5e6d0"/>
    <ds:schemaRef ds:uri="http://www.w3.org/XML/1998/namespac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dcmitype/"/>
    <ds:schemaRef ds:uri="e96afe77-3acb-4328-97fc-408e1bde3ecd"/>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B34386AA-1848-4C75-B336-1053927CB0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1437</TotalTime>
  <Words>1032</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HSE Sans</vt:lpstr>
      <vt:lpstr>Times New Roman</vt:lpstr>
      <vt:lpstr>Office Theme</vt:lpstr>
      <vt:lpstr>Training data-efficient image transformers &amp; distillation through attention. Hugo et al ICML 2021.   Reproducing key ideas from Training data-efficient image Transformers &amp; distillation through attention (DeiT) and deploying a tiny ViT backbone for real-time scene understanding.</vt:lpstr>
      <vt:lpstr>Problem Statement</vt:lpstr>
      <vt:lpstr>Paper I Build On (DeiT)</vt:lpstr>
      <vt:lpstr>PowerPoint Presentation</vt:lpstr>
      <vt:lpstr>Dataset &amp; Labels.</vt:lpstr>
      <vt:lpstr>Model &amp; Training.</vt:lpstr>
      <vt:lpstr>What was Implemented (beyond just running code)</vt:lpstr>
      <vt:lpstr>Validation Results (Accuracy)</vt:lpstr>
      <vt:lpstr>Runtime Results (Speed vs Size)</vt:lpstr>
      <vt:lpstr>Paper vs. my results (How to Compare Fairly). </vt:lpstr>
      <vt:lpstr>Paper vs. my results (How to Compare Fairly). </vt:lpstr>
      <vt:lpstr>Deployment: What’s Ready</vt:lpstr>
      <vt:lpstr>Key Takeaways.</vt:lpstr>
      <vt:lpstr>Limitations and Future Improvement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Grand Master</cp:lastModifiedBy>
  <cp:revision>59</cp:revision>
  <cp:lastPrinted>2021-11-11T13:08:42Z</cp:lastPrinted>
  <dcterms:created xsi:type="dcterms:W3CDTF">2021-11-11T08:52:47Z</dcterms:created>
  <dcterms:modified xsi:type="dcterms:W3CDTF">2025-12-17T19:17:06Z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